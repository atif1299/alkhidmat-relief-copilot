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8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78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title slide. Introduce project name, event,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problem: aid requests are messy, routing is slow, duplicates waste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Solution overview: agentic, bilingual, HITL — turns requests to tickets in &lt;60s.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agents: Intake → Triage → Knowledge → Integrity → Matcher → Dispatch. HITL gate on critical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Stack: Qwen/DashScope, LangGraph, FastAPI, Next.js 14, PostgreSQL/pgvector, GCP Cloud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roles: Citizen (anonymous), Desk Operator, Supervisor. Each has a clear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normal food request, duplicate phone, critical medical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Impact: about 23 seconds average from request to ticket on the live desk (auto-dispatched cases, measured on the production dashboard). Every request gets an AKD reference; critical and duplicate cases go to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LLM on Alibaba DashScope (Qwen). The app runs on GCP Cloud Run because the Alibaba ECS free trial was not available to us; the containers are standard Docker images, so moving to Alibaba ECS or Serverless App Engine is a deploy step,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ask: one Alkhidmat district office for a three-month pilot on real intake, so we can measure time-to-ticket, duplicates caught and desk hours saved, then price on those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customer is the NGO, not the citizen. Requesters never pay. NGOs pay a yearly subscription based on how many cases and branches they run, plus a one-time setup to load their own SOPs and connect their volunteer system. For small NGOs, donors or company CSR can fund the licence. Why they'd pay: fewer duplicate claims eating their stock, less desk time on routing, and an audit trail they can show donors. We start with a free pilot at one Alkhidmat district office, measure the savings, and set the price on those numbers.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ranaatif1299@gmail.com" TargetMode="External"/><Relationship Id="rId4" Type="http://schemas.openxmlformats.org/officeDocument/2006/relationships/hyperlink" Target="mailto:buttabdul.ahad029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</a:t>
            </a:r>
            <a:endParaRPr lang="en-US" sz="95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Alkhidmat</a:t>
            </a:r>
            <a:endParaRPr lang="en-US" sz="52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Relief Copilot</a:t>
            </a:r>
            <a:endParaRPr lang="en-US" sz="520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Desk for NGO Aid Operations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320040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Atif · Abdul Ahad · Lahore, Pakistan  ·  2026</a:t>
            </a:r>
            <a:endParaRPr lang="en-US" sz="12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3474720" cy="5079492"/>
          </a:xfrm>
          <a:prstGeom prst="rect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74320" y="1097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2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274320" y="2487168"/>
            <a:ext cx="256032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74320" y="2633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operations remain</a:t>
            </a:r>
            <a:endParaRPr lang="en-US" sz="1300"/>
          </a:p>
          <a:p>
            <a:pPr marL="0" indent="0" algn="l">
              <a:buNone/>
            </a:pPr>
            <a:r>
              <a:rPr lang="en-US" sz="130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slow.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703320" y="34747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858768" y="603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Intake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4434840" y="87782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requests arrive as unstructured Urdu and English messages — incomplete, mis-categorised, and duplicated across channels.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58768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/>
          </a:p>
        </p:txBody>
      </p:sp>
      <p:sp>
        <p:nvSpPr>
          <p:cNvPr id="13" name="Text 11"/>
          <p:cNvSpPr txBox="1"/>
          <p:nvPr/>
        </p:nvSpPr>
        <p:spPr>
          <a:xfrm>
            <a:off x="4434840" y="2075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Routing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4434840" y="245059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delays response by hours. Critical medical cases share the same queue as routine food requests.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3703320" y="349300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85876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200"/>
          </a:p>
        </p:txBody>
      </p:sp>
      <p:sp>
        <p:nvSpPr>
          <p:cNvPr id="17" name="Text 15"/>
          <p:cNvSpPr txBox="1"/>
          <p:nvPr/>
        </p:nvSpPr>
        <p:spPr>
          <a:xfrm>
            <a:off x="4434840" y="36484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&amp; Fraud Risk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4434840" y="40233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deduplication, the same family can claim resources multiple times, depleting limited relief stock.</a:t>
            </a:r>
            <a:endParaRPr lang="en-US" sz="1150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40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to Resolved.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A3160"/>
          </a:solidFill>
          <a:ln w="9525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>
                <a:solidFill>
                  <a:srgbClr val="E8B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free-text request to a verified, prioritised, resource-matched ticket — in under 60 seconds."</a:t>
            </a:r>
            <a:endParaRPr lang="en-US" sz="155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68580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Pipeline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85800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specialised agents — not one chatbot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355848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3872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3" name="Text 11"/>
          <p:cNvSpPr txBox="1"/>
          <p:nvPr/>
        </p:nvSpPr>
        <p:spPr>
          <a:xfrm>
            <a:off x="3493008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3493008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&amp; English, live intake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163056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45936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17" name="Text 15"/>
          <p:cNvSpPr txBox="1"/>
          <p:nvPr/>
        </p:nvSpPr>
        <p:spPr>
          <a:xfrm>
            <a:off x="6300216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6300216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gate for critical &amp; high-risk cases</a:t>
            </a:r>
            <a:endParaRPr lang="en-US" sz="1150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Six-Agent Pipeline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039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/>
          </a:p>
        </p:txBody>
      </p:sp>
      <p:sp>
        <p:nvSpPr>
          <p:cNvPr id="8" name="Text 6"/>
          <p:cNvSpPr txBox="1"/>
          <p:nvPr/>
        </p:nvSpPr>
        <p:spPr>
          <a:xfrm>
            <a:off x="850392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850392" y="1874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detect, extract need, location, urgency &amp; contact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331720" y="233172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0392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/>
          </a:p>
        </p:txBody>
      </p:sp>
      <p:sp>
        <p:nvSpPr>
          <p:cNvPr id="14" name="Text 12"/>
          <p:cNvSpPr txBox="1"/>
          <p:nvPr/>
        </p:nvSpPr>
        <p:spPr>
          <a:xfrm>
            <a:off x="850392" y="27432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850392" y="3108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Food · Medical · Shelter · Blood · Education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331720" y="356616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5B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50392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/>
          </a:p>
        </p:txBody>
      </p:sp>
      <p:sp>
        <p:nvSpPr>
          <p:cNvPr id="20" name="Text 18"/>
          <p:cNvSpPr txBox="1"/>
          <p:nvPr/>
        </p:nvSpPr>
        <p:spPr>
          <a:xfrm>
            <a:off x="850392" y="3977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850392" y="4343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Category-filtered SOPs · pgvector + keyword fallback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850211" y="123444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23444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28523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/>
          </a:p>
        </p:txBody>
      </p:sp>
      <p:sp>
        <p:nvSpPr>
          <p:cNvPr id="25" name="Text 23"/>
          <p:cNvSpPr txBox="1"/>
          <p:nvPr/>
        </p:nvSpPr>
        <p:spPr>
          <a:xfrm>
            <a:off x="5285232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5285232" y="1874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phone within 48h; critical or high-risk → supervisor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6766560" y="233172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46888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285232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/>
          </a:p>
        </p:txBody>
      </p:sp>
      <p:sp>
        <p:nvSpPr>
          <p:cNvPr id="31" name="Text 29"/>
          <p:cNvSpPr txBox="1"/>
          <p:nvPr/>
        </p:nvSpPr>
        <p:spPr>
          <a:xfrm>
            <a:off x="5285232" y="27432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Matcher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5285232" y="3108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inventory: food packs, camps, blood banks, volunteers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370332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70332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285232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/>
          </a:p>
        </p:txBody>
      </p:sp>
      <p:sp>
        <p:nvSpPr>
          <p:cNvPr id="37" name="Text 35"/>
          <p:cNvSpPr txBox="1"/>
          <p:nvPr/>
        </p:nvSpPr>
        <p:spPr>
          <a:xfrm>
            <a:off x="5285232" y="3977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500"/>
          </a:p>
        </p:txBody>
      </p:sp>
      <p:sp>
        <p:nvSpPr>
          <p:cNvPr id="38" name="Text 36"/>
          <p:cNvSpPr txBox="1"/>
          <p:nvPr/>
        </p:nvSpPr>
        <p:spPr>
          <a:xfrm>
            <a:off x="5285232" y="4343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AKD ticket, assign volunteer, HITL gate if critical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1645920" y="4645152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 w="762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783080" y="46817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7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HITL Supervisor Gate: Integrity flags critical or high-risk cases → hold pending approval before Dispatch</a:t>
            </a:r>
            <a:endParaRPr lang="en-US" sz="1050"/>
          </a:p>
        </p:txBody>
      </p:sp>
    </p:spTree>
  </p:cSld>
  <p:clrMapOvr>
    <a:masterClrMapping/>
  </p:clrMapOvr>
  <p:transition spd="med"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by Design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7607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50"/>
          </a:p>
        </p:txBody>
      </p:sp>
      <p:sp>
        <p:nvSpPr>
          <p:cNvPr id="7" name="Text 5"/>
          <p:cNvSpPr txBox="1"/>
          <p:nvPr/>
        </p:nvSpPr>
        <p:spPr>
          <a:xfrm>
            <a:off x="576072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via Alibaba DashScope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576072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+ English reasoning &amp; embeddings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6072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576072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Multi-Agent</a:t>
            </a:r>
            <a:endParaRPr lang="en-US" sz="1350"/>
          </a:p>
        </p:txBody>
      </p:sp>
      <p:sp>
        <p:nvSpPr>
          <p:cNvPr id="12" name="Text 10"/>
          <p:cNvSpPr txBox="1"/>
          <p:nvPr/>
        </p:nvSpPr>
        <p:spPr>
          <a:xfrm>
            <a:off x="576072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— not a linear chain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76072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850"/>
          </a:p>
        </p:txBody>
      </p:sp>
      <p:sp>
        <p:nvSpPr>
          <p:cNvPr id="15" name="Text 13"/>
          <p:cNvSpPr txBox="1"/>
          <p:nvPr/>
        </p:nvSpPr>
        <p:spPr>
          <a:xfrm>
            <a:off x="576072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+ Keyword Fallback</a:t>
            </a:r>
            <a:endParaRPr lang="en-US" sz="1350"/>
          </a:p>
        </p:txBody>
      </p:sp>
      <p:sp>
        <p:nvSpPr>
          <p:cNvPr id="16" name="Text 14"/>
          <p:cNvSpPr txBox="1"/>
          <p:nvPr/>
        </p:nvSpPr>
        <p:spPr>
          <a:xfrm>
            <a:off x="576072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retrieval, RAG-lite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11480" y="41330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76072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/>
          </a:p>
        </p:txBody>
      </p:sp>
      <p:sp>
        <p:nvSpPr>
          <p:cNvPr id="19" name="Text 17"/>
          <p:cNvSpPr txBox="1"/>
          <p:nvPr/>
        </p:nvSpPr>
        <p:spPr>
          <a:xfrm>
            <a:off x="576072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SSE Streaming</a:t>
            </a:r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576072" y="4700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agent-step events to the UI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873752" y="13898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38344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5038344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14 App Router</a:t>
            </a:r>
            <a:endParaRPr lang="en-US" sz="1350"/>
          </a:p>
        </p:txBody>
      </p:sp>
      <p:sp>
        <p:nvSpPr>
          <p:cNvPr id="24" name="Text 22"/>
          <p:cNvSpPr txBox="1"/>
          <p:nvPr/>
        </p:nvSpPr>
        <p:spPr>
          <a:xfrm>
            <a:off x="5038344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intake + Staff ops + Supervisor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73752" y="23042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38344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/>
          </a:p>
        </p:txBody>
      </p:sp>
      <p:sp>
        <p:nvSpPr>
          <p:cNvPr id="27" name="Text 25"/>
          <p:cNvSpPr txBox="1"/>
          <p:nvPr/>
        </p:nvSpPr>
        <p:spPr>
          <a:xfrm>
            <a:off x="5038344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HS256 + bcrypt</a:t>
            </a:r>
            <a:endParaRPr lang="en-US" sz="1350"/>
          </a:p>
        </p:txBody>
      </p:sp>
      <p:sp>
        <p:nvSpPr>
          <p:cNvPr id="28" name="Text 26"/>
          <p:cNvSpPr txBox="1"/>
          <p:nvPr/>
        </p:nvSpPr>
        <p:spPr>
          <a:xfrm>
            <a:off x="5038344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Role-gated: requester | desk | supervisor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873752" y="32186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03834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5038344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350"/>
          </a:p>
        </p:txBody>
      </p:sp>
      <p:sp>
        <p:nvSpPr>
          <p:cNvPr id="32" name="Text 30"/>
          <p:cNvSpPr txBox="1"/>
          <p:nvPr/>
        </p:nvSpPr>
        <p:spPr>
          <a:xfrm>
            <a:off x="5038344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checkpoints, vectors — Cloud SQL on GCP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873752" y="41330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038344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850"/>
          </a:p>
        </p:txBody>
      </p:sp>
      <p:sp>
        <p:nvSpPr>
          <p:cNvPr id="35" name="Text 33"/>
          <p:cNvSpPr txBox="1"/>
          <p:nvPr/>
        </p:nvSpPr>
        <p:spPr>
          <a:xfrm>
            <a:off x="5038344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 Cloud Run</a:t>
            </a:r>
            <a:endParaRPr lang="en-US" sz="1350"/>
          </a:p>
        </p:txBody>
      </p:sp>
      <p:sp>
        <p:nvSpPr>
          <p:cNvPr id="36" name="Text 34"/>
          <p:cNvSpPr txBox="1"/>
          <p:nvPr/>
        </p:nvSpPr>
        <p:spPr>
          <a:xfrm>
            <a:off x="5038344" y="4700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— live on *.a.run.app</a:t>
            </a:r>
            <a:endParaRPr lang="en-US" sz="1000"/>
          </a:p>
        </p:txBody>
      </p:sp>
    </p:spTree>
  </p:cSld>
  <p:clrMapOvr>
    <a:masterClrMapping/>
  </p:clrMapOvr>
  <p:transition spd="slow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 Roles, One Coherent Platform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76072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/ Requester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576072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Submit request in Urdu or English — no account required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576072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Receive an AKD ticket number immediately</a:t>
            </a:r>
            <a:endParaRPr lang="en-US" sz="1150"/>
          </a:p>
        </p:txBody>
      </p:sp>
      <p:sp>
        <p:nvSpPr>
          <p:cNvPr id="10" name="Text 8"/>
          <p:cNvSpPr txBox="1"/>
          <p:nvPr/>
        </p:nvSpPr>
        <p:spPr>
          <a:xfrm>
            <a:off x="576072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later via /status with AKD number + phone to track progress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355848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 Operator</a:t>
            </a:r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3520440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View live ticket queue with agent trace and resource match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3520440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Monitor pipeline — each agent lights up as it runs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3520440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Export case PDF for field teams or audit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300216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0216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64808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6464808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Receive escalated cases flagged by Integrity agent</a:t>
            </a:r>
            <a:endParaRPr lang="en-US" sz="1150"/>
          </a:p>
        </p:txBody>
      </p:sp>
      <p:sp>
        <p:nvSpPr>
          <p:cNvPr id="21" name="Text 19"/>
          <p:cNvSpPr txBox="1"/>
          <p:nvPr/>
        </p:nvSpPr>
        <p:spPr>
          <a:xfrm>
            <a:off x="6464808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Approve or reject with one click — resumes the pipeline</a:t>
            </a:r>
            <a:endParaRPr lang="en-US" sz="1150"/>
          </a:p>
        </p:txBody>
      </p:sp>
      <p:sp>
        <p:nvSpPr>
          <p:cNvPr id="22" name="Text 20"/>
          <p:cNvSpPr txBox="1"/>
          <p:nvPr/>
        </p:nvSpPr>
        <p:spPr>
          <a:xfrm>
            <a:off x="6464808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Review audit log: who approved what, and when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Scenarios, Three Minutes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463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86868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Request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48056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"Flood ke baad khane ki zaroorat hai, Township Lahore, family of 5."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4480560" y="18928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Triage → Food · Match: Alkhidmat Kitchen stock 120 · AKD ticket issued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11480" y="2596896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26700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868680" y="28712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4480560" y="26883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Same phone number submits a second request within minutes.</a:t>
            </a:r>
            <a:endParaRPr lang="en-US" sz="1050"/>
          </a:p>
        </p:txBody>
      </p:sp>
      <p:sp>
        <p:nvSpPr>
          <p:cNvPr id="16" name="Text 14"/>
          <p:cNvSpPr txBox="1"/>
          <p:nvPr/>
        </p:nvSpPr>
        <p:spPr>
          <a:xfrm>
            <a:off x="4480560" y="3099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Integrity flags duplicate → HITL pending · AKD still issued for transparency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11480" y="3803904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803904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38770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868680" y="4078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Medical Escalation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448056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"Chest pain, need ambulance urgently, DHA Lahore."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>
          <a:xfrm>
            <a:off x="4480560" y="43068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Priority = Critical · Integrity escalates → Supervisor approves → Dispatch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Relief Operations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~23s</a:t>
            </a:r>
            <a:endParaRPr lang="en-US" sz="3400"/>
          </a:p>
        </p:txBody>
      </p:sp>
      <p:sp>
        <p:nvSpPr>
          <p:cNvPr id="8" name="Text 6"/>
          <p:cNvSpPr txBox="1"/>
          <p:nvPr/>
        </p:nvSpPr>
        <p:spPr>
          <a:xfrm>
            <a:off x="502920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average, request to ticket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33472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33472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724912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/>
          </a:p>
        </p:txBody>
      </p:sp>
      <p:sp>
        <p:nvSpPr>
          <p:cNvPr id="12" name="Text 10"/>
          <p:cNvSpPr txBox="1"/>
          <p:nvPr/>
        </p:nvSpPr>
        <p:spPr>
          <a:xfrm>
            <a:off x="2724912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in pipeline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855464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55464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46904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/>
          </a:p>
        </p:txBody>
      </p:sp>
      <p:sp>
        <p:nvSpPr>
          <p:cNvPr id="16" name="Text 14"/>
          <p:cNvSpPr txBox="1"/>
          <p:nvPr/>
        </p:nvSpPr>
        <p:spPr>
          <a:xfrm>
            <a:off x="4946904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receive an AKD reference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7077456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77456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68896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3400"/>
          </a:p>
        </p:txBody>
      </p:sp>
      <p:sp>
        <p:nvSpPr>
          <p:cNvPr id="20" name="Text 18"/>
          <p:cNvSpPr txBox="1"/>
          <p:nvPr/>
        </p:nvSpPr>
        <p:spPr>
          <a:xfrm>
            <a:off x="7168896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critical approvals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Operations Dashboard</a:t>
            </a:r>
            <a:endParaRPr lang="en-US" sz="1700"/>
          </a:p>
        </p:txBody>
      </p:sp>
      <p:sp>
        <p:nvSpPr>
          <p:cNvPr id="22" name="Text 20"/>
          <p:cNvSpPr txBox="1"/>
          <p:nvPr/>
        </p:nvSpPr>
        <p:spPr>
          <a:xfrm>
            <a:off x="548640" y="34747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Cases processed today  ·  Average time-to-ticket  ·  Escalation rate</a:t>
            </a:r>
            <a:endParaRPr lang="en-US" sz="1250"/>
          </a:p>
        </p:txBody>
      </p:sp>
      <p:sp>
        <p:nvSpPr>
          <p:cNvPr id="23" name="Text 21"/>
          <p:cNvSpPr txBox="1"/>
          <p:nvPr/>
        </p:nvSpPr>
        <p:spPr>
          <a:xfrm>
            <a:off x="548640" y="39684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Per-case agent trace with node timings  ·  Audit log (approver + timestamp)</a:t>
            </a:r>
            <a:endParaRPr lang="en-US" sz="1250"/>
          </a:p>
        </p:txBody>
      </p:sp>
      <p:sp>
        <p:nvSpPr>
          <p:cNvPr id="24" name="Text 22"/>
          <p:cNvSpPr txBox="1"/>
          <p:nvPr/>
        </p:nvSpPr>
        <p:spPr>
          <a:xfrm>
            <a:off x="548640" y="44622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PDF case export for field teams and compliance reporting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Alibaba Cloud × GCP — Production Ready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603504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92608" cy="603504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371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85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DashScope / Qwen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2907792" y="14813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+ bilingual embeddings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8321040" cy="603504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292608" cy="603504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20116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850"/>
          </a:p>
        </p:txBody>
      </p:sp>
      <p:sp>
        <p:nvSpPr>
          <p:cNvPr id="13" name="Text 11"/>
          <p:cNvSpPr txBox="1"/>
          <p:nvPr/>
        </p:nvSpPr>
        <p:spPr>
          <a:xfrm>
            <a:off x="804672" y="2249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Studio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2907792" y="21214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model selection &amp; API endpoint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8321040" cy="603504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292608" cy="603504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04672" y="2651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18" name="Text 16"/>
          <p:cNvSpPr txBox="1"/>
          <p:nvPr/>
        </p:nvSpPr>
        <p:spPr>
          <a:xfrm>
            <a:off x="804672" y="28895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Run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2907792" y="27614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API + Next.js — portable to Alibaba ECS / SAE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8321040" cy="603504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246120"/>
            <a:ext cx="292608" cy="603504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04672" y="3291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804672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SQL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2907792" y="34015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for cases &amp; vectors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11480" y="3886200"/>
            <a:ext cx="8321040" cy="603504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886200"/>
            <a:ext cx="292608" cy="603504"/>
          </a:xfrm>
          <a:prstGeom prst="roundRect">
            <a:avLst>
              <a:gd name="adj" fmla="val 1875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4672" y="3931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28" name="Text 26"/>
          <p:cNvSpPr txBox="1"/>
          <p:nvPr/>
        </p:nvSpPr>
        <p:spPr>
          <a:xfrm>
            <a:off x="804672" y="4169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Manager</a:t>
            </a:r>
            <a:endParaRPr lang="en-US" sz="1300"/>
          </a:p>
        </p:txBody>
      </p:sp>
      <p:sp>
        <p:nvSpPr>
          <p:cNvPr id="29" name="Text 27"/>
          <p:cNvSpPr txBox="1"/>
          <p:nvPr/>
        </p:nvSpPr>
        <p:spPr>
          <a:xfrm>
            <a:off x="2907792" y="40416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key + JWT secret vault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8321040" cy="347472"/>
          </a:xfrm>
          <a:prstGeom prst="roundRect">
            <a:avLst>
              <a:gd name="adj" fmla="val 13158"/>
            </a:avLst>
          </a:prstGeom>
          <a:solidFill>
            <a:srgbClr val="1A3160"/>
          </a:solidFill>
          <a:ln w="762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relief-web-4idrhaffca-el.a.run.app  ·  relief-api-4idrhaffca-el.a.run.app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NGOs Pay, Requesters Never Do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76072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576072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Relief NGOs and their regional offices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576072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Requesters never pay — intake stays free</a:t>
            </a:r>
            <a:endParaRPr lang="en-US" sz="1150"/>
          </a:p>
        </p:txBody>
      </p:sp>
      <p:sp>
        <p:nvSpPr>
          <p:cNvPr id="10" name="Text 8"/>
          <p:cNvSpPr txBox="1"/>
          <p:nvPr/>
        </p:nvSpPr>
        <p:spPr>
          <a:xfrm>
            <a:off x="576072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Small NGOs: licences funded by donors or company CSR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355848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pay</a:t>
            </a:r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3520440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Yearly subscription per organisation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3520440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Priced by case volume and number of branches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3520440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One-time setup: load SOPs, connect volunteer roster or CRM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300216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0216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64808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pays back</a:t>
            </a:r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6464808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Duplicate claims stop draining stock</a:t>
            </a:r>
            <a:endParaRPr lang="en-US" sz="1150"/>
          </a:p>
        </p:txBody>
      </p:sp>
      <p:sp>
        <p:nvSpPr>
          <p:cNvPr id="21" name="Text 19"/>
          <p:cNvSpPr txBox="1"/>
          <p:nvPr/>
        </p:nvSpPr>
        <p:spPr>
          <a:xfrm>
            <a:off x="6464808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Desk hours saved on reading and routing</a:t>
            </a:r>
            <a:endParaRPr lang="en-US" sz="1150"/>
          </a:p>
        </p:txBody>
      </p:sp>
      <p:sp>
        <p:nvSpPr>
          <p:cNvPr id="22" name="Text 20"/>
          <p:cNvSpPr txBox="1"/>
          <p:nvPr/>
        </p:nvSpPr>
        <p:spPr>
          <a:xfrm>
            <a:off x="6464808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Audit trail for every decision, ready for donor reporting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0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BEYOND THE HACKATHON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National Relief Infrastructure</a:t>
            </a:r>
            <a:endParaRPr lang="en-US" sz="2600"/>
          </a:p>
        </p:txBody>
      </p:sp>
      <p:sp>
        <p:nvSpPr>
          <p:cNvPr id="5" name="Shape Line"/>
          <p:cNvSpPr/>
          <p:nvPr/>
        </p:nvSpPr>
        <p:spPr>
          <a:xfrm>
            <a:off x="640080" y="1802892"/>
            <a:ext cx="7940040" cy="12700"/>
          </a:xfrm>
          <a:prstGeom prst="rect">
            <a:avLst/>
          </a:prstGeom>
          <a:solidFill>
            <a:srgbClr val="D6D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ard 0"/>
          <p:cNvSpPr/>
          <p:nvPr/>
        </p:nvSpPr>
        <p:spPr>
          <a:xfrm>
            <a:off x="4114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0"/>
          <p:cNvSpPr/>
          <p:nvPr/>
        </p:nvSpPr>
        <p:spPr>
          <a:xfrm>
            <a:off x="640080" y="1581912"/>
            <a:ext cx="441960" cy="441960"/>
          </a:xfrm>
          <a:prstGeom prst="ellipse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Num 0"/>
          <p:cNvSpPr txBox="1"/>
          <p:nvPr/>
        </p:nvSpPr>
        <p:spPr>
          <a:xfrm>
            <a:off x="6400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itle 0"/>
          <p:cNvSpPr txBox="1"/>
          <p:nvPr/>
        </p:nvSpPr>
        <p:spPr>
          <a:xfrm>
            <a:off x="6400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800"/>
          </a:p>
        </p:txBody>
      </p:sp>
      <p:sp>
        <p:nvSpPr>
          <p:cNvPr id="10" name="When 0"/>
          <p:cNvSpPr txBox="1"/>
          <p:nvPr/>
        </p:nvSpPr>
        <p:spPr>
          <a:xfrm>
            <a:off x="6400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·  0–3 months</a:t>
            </a:r>
            <a:endParaRPr lang="en-US" sz="850"/>
          </a:p>
        </p:txBody>
      </p:sp>
      <p:sp>
        <p:nvSpPr>
          <p:cNvPr id="11" name="Body 0"/>
          <p:cNvSpPr txBox="1"/>
          <p:nvPr/>
        </p:nvSpPr>
        <p:spPr>
          <a:xfrm>
            <a:off x="6400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with one Alkhidmat district office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intake on real flood &amp; medical cases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Target: 1,000 verified tickets</a:t>
            </a:r>
            <a:endParaRPr lang="en-US" sz="1000"/>
          </a:p>
        </p:txBody>
      </p:sp>
      <p:sp>
        <p:nvSpPr>
          <p:cNvPr id="12" name="Card 1"/>
          <p:cNvSpPr/>
          <p:nvPr/>
        </p:nvSpPr>
        <p:spPr>
          <a:xfrm>
            <a:off x="25450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Badge 1"/>
          <p:cNvSpPr/>
          <p:nvPr/>
        </p:nvSpPr>
        <p:spPr>
          <a:xfrm>
            <a:off x="2773680" y="1581912"/>
            <a:ext cx="441960" cy="441960"/>
          </a:xfrm>
          <a:prstGeom prst="ellipse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Num 1"/>
          <p:cNvSpPr txBox="1"/>
          <p:nvPr/>
        </p:nvSpPr>
        <p:spPr>
          <a:xfrm>
            <a:off x="27736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5" name="Title 1"/>
          <p:cNvSpPr txBox="1"/>
          <p:nvPr/>
        </p:nvSpPr>
        <p:spPr>
          <a:xfrm>
            <a:off x="27736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</a:t>
            </a:r>
            <a:endParaRPr lang="en-US" sz="1800"/>
          </a:p>
        </p:txBody>
      </p:sp>
      <p:sp>
        <p:nvSpPr>
          <p:cNvPr id="16" name="When 1"/>
          <p:cNvSpPr txBox="1"/>
          <p:nvPr/>
        </p:nvSpPr>
        <p:spPr>
          <a:xfrm>
            <a:off x="27736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 ·  3–6 months</a:t>
            </a:r>
            <a:endParaRPr lang="en-US" sz="850"/>
          </a:p>
        </p:txBody>
      </p:sp>
      <p:sp>
        <p:nvSpPr>
          <p:cNvPr id="17" name="Body 1"/>
          <p:cNvSpPr txBox="1"/>
          <p:nvPr/>
        </p:nvSpPr>
        <p:spPr>
          <a:xfrm>
            <a:off x="27736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 &amp; SMS intake channels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Offline-first field app for volunteers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SOC2-style audit logging &amp; retention</a:t>
            </a:r>
            <a:endParaRPr lang="en-US" sz="1000"/>
          </a:p>
        </p:txBody>
      </p:sp>
      <p:sp>
        <p:nvSpPr>
          <p:cNvPr id="18" name="Card 2"/>
          <p:cNvSpPr/>
          <p:nvPr/>
        </p:nvSpPr>
        <p:spPr>
          <a:xfrm>
            <a:off x="46786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Badge 2"/>
          <p:cNvSpPr/>
          <p:nvPr/>
        </p:nvSpPr>
        <p:spPr>
          <a:xfrm>
            <a:off x="4907280" y="1581912"/>
            <a:ext cx="441960" cy="441960"/>
          </a:xfrm>
          <a:prstGeom prst="ellipse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Num 2"/>
          <p:cNvSpPr txBox="1"/>
          <p:nvPr/>
        </p:nvSpPr>
        <p:spPr>
          <a:xfrm>
            <a:off x="49072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1" name="Title 2"/>
          <p:cNvSpPr txBox="1"/>
          <p:nvPr/>
        </p:nvSpPr>
        <p:spPr>
          <a:xfrm>
            <a:off x="49072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/>
          </a:p>
        </p:txBody>
      </p:sp>
      <p:sp>
        <p:nvSpPr>
          <p:cNvPr id="22" name="When 2"/>
          <p:cNvSpPr txBox="1"/>
          <p:nvPr/>
        </p:nvSpPr>
        <p:spPr>
          <a:xfrm>
            <a:off x="49072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2027  ·  6–12 months</a:t>
            </a:r>
            <a:endParaRPr lang="en-US" sz="850"/>
          </a:p>
        </p:txBody>
      </p:sp>
      <p:sp>
        <p:nvSpPr>
          <p:cNvPr id="23" name="Body 2"/>
          <p:cNvSpPr txBox="1"/>
          <p:nvPr/>
        </p:nvSpPr>
        <p:spPr>
          <a:xfrm>
            <a:off x="49072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Alkhidmat regional offices, Punjab-wide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sync with live warehouse systems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Regional dialect coverage: Sindhi, Pashto</a:t>
            </a:r>
            <a:endParaRPr lang="en-US" sz="1000"/>
          </a:p>
        </p:txBody>
      </p:sp>
      <p:sp>
        <p:nvSpPr>
          <p:cNvPr id="24" name="Card 3"/>
          <p:cNvSpPr/>
          <p:nvPr/>
        </p:nvSpPr>
        <p:spPr>
          <a:xfrm>
            <a:off x="68122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Badge 3"/>
          <p:cNvSpPr/>
          <p:nvPr/>
        </p:nvSpPr>
        <p:spPr>
          <a:xfrm>
            <a:off x="7040880" y="1581912"/>
            <a:ext cx="441960" cy="441960"/>
          </a:xfrm>
          <a:prstGeom prst="ellipse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Num 3"/>
          <p:cNvSpPr txBox="1"/>
          <p:nvPr/>
        </p:nvSpPr>
        <p:spPr>
          <a:xfrm>
            <a:off x="70408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7" name="Title 3"/>
          <p:cNvSpPr txBox="1"/>
          <p:nvPr/>
        </p:nvSpPr>
        <p:spPr>
          <a:xfrm>
            <a:off x="70408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800"/>
          </a:p>
        </p:txBody>
      </p:sp>
      <p:sp>
        <p:nvSpPr>
          <p:cNvPr id="28" name="When 3"/>
          <p:cNvSpPr txBox="1"/>
          <p:nvPr/>
        </p:nvSpPr>
        <p:spPr>
          <a:xfrm>
            <a:off x="70408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 ·  12 months +</a:t>
            </a:r>
            <a:endParaRPr lang="en-US" sz="850"/>
          </a:p>
        </p:txBody>
      </p:sp>
      <p:sp>
        <p:nvSpPr>
          <p:cNvPr id="29" name="Body 3"/>
          <p:cNvSpPr txBox="1"/>
          <p:nvPr/>
        </p:nvSpPr>
        <p:spPr>
          <a:xfrm>
            <a:off x="70408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Multi-NGO tenancy — one desk, many partners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API for government disaster cells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Open-source the agent orchestration core</a:t>
            </a:r>
            <a:endParaRPr lang="en-US" sz="1000"/>
          </a:p>
        </p:txBody>
      </p:sp>
      <p:sp>
        <p:nvSpPr>
          <p:cNvPr id="30" name="Footer"/>
          <p:cNvSpPr txBox="1"/>
          <p:nvPr/>
        </p:nvSpPr>
        <p:spPr>
          <a:xfrm>
            <a:off x="548640" y="4525963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0" i="1" kern="0" spc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partner: Alkhidmat Foundation Pakistan  ·  Built to run beyond demo day</a:t>
            </a:r>
            <a:endParaRPr lang="en-US" sz="950"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WIN.</a:t>
            </a:r>
            <a:endParaRPr lang="en-US" sz="50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SERVE.</a:t>
            </a:r>
            <a:endParaRPr lang="en-US" sz="500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 Relief Copilot — Multi-Agent Aid Desk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11480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228600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relief-web-4idrhaffca-el.a.run.app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228600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github.com/Atif1299/</a:t>
            </a:r>
            <a:r>
              <a:rPr lang="en-US" sz="1300" err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-relief-copilot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548640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00"/>
          </a:p>
        </p:txBody>
      </p:sp>
      <p:sp>
        <p:nvSpPr>
          <p:cNvPr id="13" name="Text 11"/>
          <p:cNvSpPr txBox="1"/>
          <p:nvPr/>
        </p:nvSpPr>
        <p:spPr>
          <a:xfrm>
            <a:off x="228600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Atif - 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ranaatif1299@gmail.com</a:t>
            </a: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Ahad - 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buttabdul.ahad029@gmail.com</a:t>
            </a: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Social Impact · Alibaba Cloud</a:t>
            </a:r>
            <a:endParaRPr lang="en-US" sz="1050"/>
          </a:p>
        </p:txBody>
      </p:sp>
      <p:sp>
        <p:nvSpPr>
          <p:cNvPr id="15" name="Pilot ask card"/>
          <p:cNvSpPr/>
          <p:nvPr/>
        </p:nvSpPr>
        <p:spPr>
          <a:xfrm>
            <a:off x="5623560" y="2926080"/>
            <a:ext cx="2971800" cy="1463040"/>
          </a:xfrm>
          <a:prstGeom prst="roundRect">
            <a:avLst>
              <a:gd name="adj" fmla="val 8000"/>
            </a:avLst>
          </a:prstGeom>
          <a:solidFill>
            <a:srgbClr val="1A3160"/>
          </a:solidFill>
          <a:ln w="9525">
            <a:solidFill>
              <a:srgbClr val="C5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09728"/>
          <a:lstStyle/>
          <a:p>
            <a:pPr algn="l">
              <a:spcAft>
                <a:spcPts val="400"/>
              </a:spcAft>
            </a:pPr>
            <a:r>
              <a:rPr sz="900" b="1" spc="150">
                <a:solidFill>
                  <a:srgbClr val="C5963A"/>
                </a:solidFill>
                <a:latin typeface="Calibri"/>
              </a:rPr>
              <a:t>OUR ASK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One Alkhidmat district office for a 3-month pilot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AF0FB"/>
                </a:solidFill>
                <a:latin typeface="Calibri"/>
              </a:rPr>
              <a:t>Real intake. We measure time-to-ticket, duplicates caught and desk hours saved.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1096</Words>
  <Application>Microsoft Office PowerPoint</Application>
  <PresentationFormat>On-screen Show (16:9)</PresentationFormat>
  <Paragraphs>196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Atif</cp:lastModifiedBy>
  <cp:revision>4</cp:revision>
  <dcterms:created xsi:type="dcterms:W3CDTF">2026-09-03T16:10:21Z</dcterms:created>
  <dcterms:modified xsi:type="dcterms:W3CDTF">2026-10-23T21:39:17Z</dcterms:modified>
</cp:coreProperties>
</file>