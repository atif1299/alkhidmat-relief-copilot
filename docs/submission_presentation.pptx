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B87A"/>
                </a:solidFill>
                <a:latin typeface="Segoe UI"/>
              </a:rPr>
              <a:t>ALKHIDMAT RELIEF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0F4F1"/>
                </a:solidFill>
                <a:latin typeface="Segoe UI Semibold"/>
              </a:rPr>
              <a:t>From an aid request to a
verified ticket — with a
human when it matters.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805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9B90"/>
                </a:solidFill>
                <a:latin typeface="Segoe UI"/>
              </a:rPr>
              <a:t>Multi-agent NGO aid desk  ·  Urdu + English  ·  Qwen via DashScope  ·  Alibaba Cloud AI Hackathon Pakistan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303520"/>
            <a:ext cx="1828800" cy="457200"/>
          </a:xfrm>
          <a:prstGeom prst="roundRect">
            <a:avLst/>
          </a:prstGeom>
          <a:solidFill>
            <a:srgbClr val="14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0F0D"/>
                </a:solidFill>
                <a:latin typeface="Segoe UI"/>
              </a:rPr>
              <a:t>LangGraph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06040" y="5303520"/>
            <a:ext cx="1828800" cy="457200"/>
          </a:xfrm>
          <a:prstGeom prst="roundRect">
            <a:avLst/>
          </a:prstGeom>
          <a:solidFill>
            <a:srgbClr val="14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0F0D"/>
                </a:solidFill>
                <a:latin typeface="Segoe UI"/>
              </a:rPr>
              <a:t>FastAPI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5303520"/>
            <a:ext cx="1828800" cy="457200"/>
          </a:xfrm>
          <a:prstGeom prst="roundRect">
            <a:avLst/>
          </a:prstGeom>
          <a:solidFill>
            <a:srgbClr val="14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0F0D"/>
                </a:solidFill>
                <a:latin typeface="Segoe UI"/>
              </a:rPr>
              <a:t>Next.js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5303520"/>
            <a:ext cx="2194560" cy="457200"/>
          </a:xfrm>
          <a:prstGeom prst="roundRect">
            <a:avLst/>
          </a:prstGeom>
          <a:solidFill>
            <a:srgbClr val="14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0F0D"/>
                </a:solidFill>
                <a:latin typeface="Segoe UI"/>
              </a:rPr>
              <a:t>Postgres/pgvector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5303520"/>
            <a:ext cx="2377440" cy="457200"/>
          </a:xfrm>
          <a:prstGeom prst="round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0F0D"/>
                </a:solidFill>
                <a:latin typeface="Segoe UI"/>
              </a:rPr>
              <a:t>Qwen / DashScope</a:t>
            </a:r>
          </a:p>
        </p:txBody>
      </p:sp>
      <p:pic>
        <p:nvPicPr>
          <p:cNvPr id="11" name="Picture 10" descr="readme-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14400"/>
            <a:ext cx="4114800" cy="141078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64465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90"/>
                </a:solidFill>
                <a:latin typeface="Segoe UI"/>
              </a:rPr>
              <a:t>github.com/Atif1299/alkhidmat-relief-copilot  ·  relief-web-4idrhaffca-el.a.run.app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B87A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0F4F1"/>
                </a:solidFill>
                <a:latin typeface="Segoe UI Semibold"/>
              </a:rPr>
              <a:t>Relief requests arrive messy.
Critical cases get buried.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881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14B87A"/>
                </a:solidFill>
                <a:latin typeface="Segoe UI"/>
              </a:rPr>
              <a:t>●  </a:t>
            </a:r>
            <a:r>
              <a:rPr sz="2000" b="0">
                <a:solidFill>
                  <a:srgbClr val="F0F4F1"/>
                </a:solidFill>
                <a:latin typeface="Segoe UI"/>
              </a:rPr>
              <a:t>Free-text Urdu/English — incomplete contact and location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4B87A"/>
                </a:solidFill>
                <a:latin typeface="Segoe UI"/>
              </a:rPr>
              <a:t>●  </a:t>
            </a:r>
            <a:r>
              <a:rPr sz="2000" b="0">
                <a:solidFill>
                  <a:srgbClr val="F0F4F1"/>
                </a:solidFill>
                <a:latin typeface="Segoe UI"/>
              </a:rPr>
              <a:t>Wrong category routing (food vs medical vs shelter)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4B87A"/>
                </a:solidFill>
                <a:latin typeface="Segoe UI"/>
              </a:rPr>
              <a:t>●  </a:t>
            </a:r>
            <a:r>
              <a:rPr sz="2000" b="0">
                <a:solidFill>
                  <a:srgbClr val="F0F4F1"/>
                </a:solidFill>
                <a:latin typeface="Segoe UI"/>
              </a:rPr>
              <a:t>Duplicate requests from the same phone or area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4B87A"/>
                </a:solidFill>
                <a:latin typeface="Segoe UI"/>
              </a:rPr>
              <a:t>●  </a:t>
            </a:r>
            <a:r>
              <a:rPr sz="2000" b="0">
                <a:solidFill>
                  <a:srgbClr val="F0F4F1"/>
                </a:solidFill>
                <a:latin typeface="Segoe UI"/>
              </a:rPr>
              <a:t>High-risk medical cases need a human gate — fast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4B87A"/>
                </a:solidFill>
                <a:latin typeface="Segoe UI"/>
              </a:rPr>
              <a:t>●  </a:t>
            </a:r>
            <a:r>
              <a:rPr sz="2000" b="0">
                <a:solidFill>
                  <a:srgbClr val="F0F4F1"/>
                </a:solidFill>
                <a:latin typeface="Segoe UI"/>
              </a:rPr>
              <a:t>The first 60 seconds after a request is the bottleneck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90"/>
                </a:solidFill>
                <a:latin typeface="Segoe UI"/>
              </a:rPr>
              <a:t>github.com/Atif1299/alkhidmat-relief-copilot  ·  relief-web-4idrhaffca-el.a.run.app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B87A"/>
                </a:solidFill>
                <a:latin typeface="Segoe UI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0F4F1"/>
                </a:solidFill>
                <a:latin typeface="Segoe UI Semibold"/>
              </a:rPr>
              <a:t>An agentic operations desk
that verifies, matches, and routes.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881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14B87A"/>
                </a:solidFill>
                <a:latin typeface="Segoe UI"/>
              </a:rPr>
              <a:t>●  </a:t>
            </a:r>
            <a:r>
              <a:rPr sz="2000" b="0">
                <a:solidFill>
                  <a:srgbClr val="F0F4F1"/>
                </a:solidFill>
                <a:latin typeface="Segoe UI"/>
              </a:rPr>
              <a:t>6-agent governed pipeline: Intake → Triage → Knowledge → Integrity → Matcher → Dispatch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4B87A"/>
                </a:solidFill>
                <a:latin typeface="Segoe UI"/>
              </a:rPr>
              <a:t>●  </a:t>
            </a:r>
            <a:r>
              <a:rPr sz="2000" b="0">
                <a:solidFill>
                  <a:srgbClr val="F0F4F1"/>
                </a:solidFill>
                <a:latin typeface="Segoe UI"/>
              </a:rPr>
              <a:t>HITL supervisor gate for critical or high-risk cases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4B87A"/>
                </a:solidFill>
                <a:latin typeface="Segoe UI"/>
              </a:rPr>
              <a:t>●  </a:t>
            </a:r>
            <a:r>
              <a:rPr sz="2000" b="0">
                <a:solidFill>
                  <a:srgbClr val="F0F4F1"/>
                </a:solidFill>
                <a:latin typeface="Segoe UI"/>
              </a:rPr>
              <a:t>Ticket ID + resource match + next-step visibility for everyone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4B87A"/>
                </a:solidFill>
                <a:latin typeface="Segoe UI"/>
              </a:rPr>
              <a:t>●  </a:t>
            </a:r>
            <a:r>
              <a:rPr sz="2000" b="0">
                <a:solidFill>
                  <a:srgbClr val="F0F4F1"/>
                </a:solidFill>
                <a:latin typeface="Segoe UI"/>
              </a:rPr>
              <a:t>Urdu and English intake — Qwen via Alibaba DashScope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4B87A"/>
                </a:solidFill>
                <a:latin typeface="Segoe UI"/>
              </a:rPr>
              <a:t>●  </a:t>
            </a:r>
            <a:r>
              <a:rPr sz="2000" b="0">
                <a:solidFill>
                  <a:srgbClr val="F0F4F1"/>
                </a:solidFill>
                <a:latin typeface="Segoe UI"/>
              </a:rPr>
              <a:t>SOP retrieval (pgvector RAG) with readable citations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90"/>
                </a:solidFill>
                <a:latin typeface="Segoe UI"/>
              </a:rPr>
              <a:t>github.com/Atif1299/alkhidmat-relief-copilot  ·  relief-web-4idrhaffca-el.a.run.app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B87A"/>
                </a:solidFill>
                <a:latin typeface="Segoe UI"/>
              </a:rPr>
              <a:t>WINNING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0F4F1"/>
                </a:solidFill>
                <a:latin typeface="Segoe UI Semibold"/>
              </a:rPr>
              <a:t>Everyone knows what happens next.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B87A"/>
                </a:solidFill>
                <a:latin typeface="Segoe UI"/>
              </a:rPr>
              <a:t>After submission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14B87A"/>
                </a:solidFill>
                <a:latin typeface="Segoe UI"/>
              </a:rPr>
              <a:t>●  </a:t>
            </a:r>
            <a:r>
              <a:rPr sz="1800" b="0">
                <a:solidFill>
                  <a:srgbClr val="F0F4F1"/>
                </a:solidFill>
                <a:latin typeface="Segoe UI"/>
              </a:rPr>
              <a:t>Ticket ID: AKD-YYYYMMDD-XXXXXX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4B87A"/>
                </a:solidFill>
                <a:latin typeface="Segoe UI"/>
              </a:rPr>
              <a:t>●  </a:t>
            </a:r>
            <a:r>
              <a:rPr sz="1800" b="0">
                <a:solidFill>
                  <a:srgbClr val="F0F4F1"/>
                </a:solidFill>
                <a:latin typeface="Segoe UI"/>
              </a:rPr>
              <a:t>Resource match (inventory + volunteer)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4B87A"/>
                </a:solidFill>
                <a:latin typeface="Segoe UI"/>
              </a:rPr>
              <a:t>●  </a:t>
            </a:r>
            <a:r>
              <a:rPr sz="1800" b="0">
                <a:solidFill>
                  <a:srgbClr val="F0F4F1"/>
                </a:solidFill>
                <a:latin typeface="Segoe UI"/>
              </a:rPr>
              <a:t>Or: waiting for supervisor approval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4B87A"/>
                </a:solidFill>
                <a:latin typeface="Segoe UI"/>
              </a:rPr>
              <a:t>●  </a:t>
            </a:r>
            <a:r>
              <a:rPr sz="1800" b="0">
                <a:solidFill>
                  <a:srgbClr val="F0F4F1"/>
                </a:solidFill>
                <a:latin typeface="Segoe UI"/>
              </a:rPr>
              <a:t>Full agent trace + case timeline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834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A84B"/>
                </a:solidFill>
                <a:latin typeface="Segoe UI"/>
              </a:rPr>
              <a:t>Promise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2918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D4A84B"/>
                </a:solidFill>
                <a:latin typeface="Segoe UI"/>
              </a:rPr>
              <a:t>●  </a:t>
            </a:r>
            <a:r>
              <a:rPr sz="1800" b="0">
                <a:solidFill>
                  <a:srgbClr val="F0F4F1"/>
                </a:solidFill>
                <a:latin typeface="Segoe UI"/>
              </a:rPr>
              <a:t>One minute to verified ticket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D4A84B"/>
                </a:solidFill>
                <a:latin typeface="Segoe UI"/>
              </a:rPr>
              <a:t>●  </a:t>
            </a:r>
            <a:r>
              <a:rPr sz="1800" b="0">
                <a:solidFill>
                  <a:srgbClr val="F0F4F1"/>
                </a:solidFill>
                <a:latin typeface="Segoe UI"/>
              </a:rPr>
              <a:t>Integrity never skipped on create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D4A84B"/>
                </a:solidFill>
                <a:latin typeface="Segoe UI"/>
              </a:rPr>
              <a:t>●  </a:t>
            </a:r>
            <a:r>
              <a:rPr sz="1800" b="0">
                <a:solidFill>
                  <a:srgbClr val="F0F4F1"/>
                </a:solidFill>
                <a:latin typeface="Segoe UI"/>
              </a:rPr>
              <a:t>HITL decisions are traceable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D4A84B"/>
                </a:solidFill>
                <a:latin typeface="Segoe UI"/>
              </a:rPr>
              <a:t>●  </a:t>
            </a:r>
            <a:r>
              <a:rPr sz="1800" b="0">
                <a:solidFill>
                  <a:srgbClr val="F0F4F1"/>
                </a:solidFill>
                <a:latin typeface="Segoe UI"/>
              </a:rPr>
              <a:t>Citizens never need a staff 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90"/>
                </a:solidFill>
                <a:latin typeface="Segoe UI"/>
              </a:rPr>
              <a:t>github.com/Atif1299/alkhidmat-relief-copilot  ·  relief-web-4idrhaffca-el.a.run.app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B87A"/>
                </a:solidFill>
                <a:latin typeface="Segoe UI"/>
              </a:rPr>
              <a:t>PIPELINE  ·  STEP 1 OF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0F4F1"/>
                </a:solidFill>
                <a:latin typeface="Segoe UI Semibold"/>
              </a:rPr>
              <a:t>Intake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8A9B90"/>
                </a:solidFill>
                <a:latin typeface="Segoe UI"/>
              </a:rPr>
              <a:t>Language detect · extract need, location, phone, name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451" y="2926080"/>
            <a:ext cx="1417320" cy="640080"/>
          </a:xfrm>
          <a:prstGeom prst="roundRect">
            <a:avLst/>
          </a:prstGeom>
          <a:solidFill>
            <a:srgbClr val="14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0F0D"/>
                </a:solidFill>
                <a:latin typeface="Segoe UI"/>
              </a:rPr>
              <a:t>Intake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67915" y="3035808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8A9B90"/>
                </a:solidFill>
                <a:latin typeface="Segoe U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23363" y="2926080"/>
            <a:ext cx="1417320" cy="640080"/>
          </a:xfrm>
          <a:prstGeom prst="roundRect">
            <a:avLst/>
          </a:prstGeom>
          <a:solidFill>
            <a:srgbClr val="1A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90"/>
                </a:solidFill>
                <a:latin typeface="Segoe UI"/>
              </a:rPr>
              <a:t>Triage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49827" y="3035808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8A9B90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05275" y="2926080"/>
            <a:ext cx="1417320" cy="640080"/>
          </a:xfrm>
          <a:prstGeom prst="roundRect">
            <a:avLst/>
          </a:prstGeom>
          <a:solidFill>
            <a:srgbClr val="1A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90"/>
                </a:solidFill>
                <a:latin typeface="Segoe UI"/>
              </a:rPr>
              <a:t>Knowledge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1739" y="3035808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8A9B90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87187" y="2926080"/>
            <a:ext cx="1417320" cy="640080"/>
          </a:xfrm>
          <a:prstGeom prst="roundRect">
            <a:avLst/>
          </a:prstGeom>
          <a:solidFill>
            <a:srgbClr val="1A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90"/>
                </a:solidFill>
                <a:latin typeface="Segoe UI"/>
              </a:rPr>
              <a:t>Integrity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3651" y="3035808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8A9B90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69099" y="2926080"/>
            <a:ext cx="1417320" cy="640080"/>
          </a:xfrm>
          <a:prstGeom prst="roundRect">
            <a:avLst/>
          </a:prstGeom>
          <a:solidFill>
            <a:srgbClr val="1A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90"/>
                </a:solidFill>
                <a:latin typeface="Segoe UI"/>
              </a:rPr>
              <a:t>HITL 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5563" y="3035808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8A9B90"/>
                </a:solidFill>
                <a:latin typeface="Segoe U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51011" y="2926080"/>
            <a:ext cx="1417320" cy="640080"/>
          </a:xfrm>
          <a:prstGeom prst="roundRect">
            <a:avLst/>
          </a:prstGeom>
          <a:solidFill>
            <a:srgbClr val="1A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90"/>
                </a:solidFill>
                <a:latin typeface="Segoe UI"/>
              </a:rPr>
              <a:t>Matcher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77475" y="3035808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8A9B90"/>
                </a:solidFill>
                <a:latin typeface="Segoe U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32923" y="2926080"/>
            <a:ext cx="1417320" cy="640080"/>
          </a:xfrm>
          <a:prstGeom prst="roundRect">
            <a:avLst/>
          </a:prstGeom>
          <a:solidFill>
            <a:srgbClr val="1A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90"/>
                </a:solidFill>
                <a:latin typeface="Segoe UI"/>
              </a:rPr>
              <a:t>Dispatch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023360"/>
            <a:ext cx="10881360" cy="2103120"/>
          </a:xfrm>
          <a:prstGeom prst="roundRect">
            <a:avLst/>
          </a:prstGeom>
          <a:solidFill>
            <a:srgbClr val="131A16"/>
          </a:solidFill>
          <a:ln w="12700">
            <a:solidFill>
              <a:srgbClr val="1E2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251960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14B87A"/>
                </a:solidFill>
                <a:latin typeface="Segoe UI"/>
              </a:rPr>
              <a:t>●  </a:t>
            </a:r>
            <a:r>
              <a:rPr sz="1700" b="0">
                <a:solidFill>
                  <a:srgbClr val="F0F4F1"/>
                </a:solidFill>
                <a:latin typeface="Segoe UI"/>
              </a:rPr>
              <a:t>Detects Urdu vs English automatically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4B87A"/>
                </a:solidFill>
                <a:latin typeface="Segoe UI"/>
              </a:rPr>
              <a:t>●  </a:t>
            </a:r>
            <a:r>
              <a:rPr sz="1700" b="0">
                <a:solidFill>
                  <a:srgbClr val="F0F4F1"/>
                </a:solidFill>
                <a:latin typeface="Segoe UI"/>
              </a:rPr>
              <a:t>Extracts structured fields: need, location, phone, name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4B87A"/>
                </a:solidFill>
                <a:latin typeface="Segoe UI"/>
              </a:rPr>
              <a:t>●  </a:t>
            </a:r>
            <a:r>
              <a:rPr sz="1700" b="0">
                <a:solidFill>
                  <a:srgbClr val="F0F4F1"/>
                </a:solidFill>
                <a:latin typeface="Segoe UI"/>
              </a:rPr>
              <a:t>Powered by Qwen via DashScope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90"/>
                </a:solidFill>
                <a:latin typeface="Segoe UI"/>
              </a:rPr>
              <a:t>github.com/Atif1299/alkhidmat-relief-copilot  ·  relief-web-4idrhaffca-el.a.run.app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B87A"/>
                </a:solidFill>
                <a:latin typeface="Segoe UI"/>
              </a:rPr>
              <a:t>PIPELINE  ·  STEP 2 OF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0F4F1"/>
                </a:solidFill>
                <a:latin typeface="Segoe UI Semibold"/>
              </a:rPr>
              <a:t>Triage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8A9B90"/>
                </a:solidFill>
                <a:latin typeface="Segoe UI"/>
              </a:rPr>
              <a:t>Classify: Food, Medical, Shelter, Blood, Education, Other + priority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451" y="2926080"/>
            <a:ext cx="1417320" cy="640080"/>
          </a:xfrm>
          <a:prstGeom prst="roundRect">
            <a:avLst/>
          </a:prstGeom>
          <a:solidFill>
            <a:srgbClr val="1A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4B87A"/>
                </a:solidFill>
                <a:latin typeface="Segoe UI"/>
              </a:rPr>
              <a:t>Intake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67915" y="3035808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4B87A"/>
                </a:solidFill>
                <a:latin typeface="Segoe U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23363" y="2926080"/>
            <a:ext cx="1417320" cy="640080"/>
          </a:xfrm>
          <a:prstGeom prst="roundRect">
            <a:avLst/>
          </a:prstGeom>
          <a:solidFill>
            <a:srgbClr val="14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0F0D"/>
                </a:solidFill>
                <a:latin typeface="Segoe UI"/>
              </a:rPr>
              <a:t>Triage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49827" y="3035808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8A9B90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05275" y="2926080"/>
            <a:ext cx="1417320" cy="640080"/>
          </a:xfrm>
          <a:prstGeom prst="roundRect">
            <a:avLst/>
          </a:prstGeom>
          <a:solidFill>
            <a:srgbClr val="1A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90"/>
                </a:solidFill>
                <a:latin typeface="Segoe UI"/>
              </a:rPr>
              <a:t>Knowledge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1739" y="3035808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8A9B90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87187" y="2926080"/>
            <a:ext cx="1417320" cy="640080"/>
          </a:xfrm>
          <a:prstGeom prst="roundRect">
            <a:avLst/>
          </a:prstGeom>
          <a:solidFill>
            <a:srgbClr val="1A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90"/>
                </a:solidFill>
                <a:latin typeface="Segoe UI"/>
              </a:rPr>
              <a:t>Integrity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3651" y="3035808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8A9B90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69099" y="2926080"/>
            <a:ext cx="1417320" cy="640080"/>
          </a:xfrm>
          <a:prstGeom prst="roundRect">
            <a:avLst/>
          </a:prstGeom>
          <a:solidFill>
            <a:srgbClr val="1A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90"/>
                </a:solidFill>
                <a:latin typeface="Segoe UI"/>
              </a:rPr>
              <a:t>HITL 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5563" y="3035808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8A9B90"/>
                </a:solidFill>
                <a:latin typeface="Segoe U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51011" y="2926080"/>
            <a:ext cx="1417320" cy="640080"/>
          </a:xfrm>
          <a:prstGeom prst="roundRect">
            <a:avLst/>
          </a:prstGeom>
          <a:solidFill>
            <a:srgbClr val="1A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90"/>
                </a:solidFill>
                <a:latin typeface="Segoe UI"/>
              </a:rPr>
              <a:t>Matcher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77475" y="3035808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8A9B90"/>
                </a:solidFill>
                <a:latin typeface="Segoe U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32923" y="2926080"/>
            <a:ext cx="1417320" cy="640080"/>
          </a:xfrm>
          <a:prstGeom prst="roundRect">
            <a:avLst/>
          </a:prstGeom>
          <a:solidFill>
            <a:srgbClr val="1A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90"/>
                </a:solidFill>
                <a:latin typeface="Segoe UI"/>
              </a:rPr>
              <a:t>Dispatch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023360"/>
            <a:ext cx="10881360" cy="2103120"/>
          </a:xfrm>
          <a:prstGeom prst="roundRect">
            <a:avLst/>
          </a:prstGeom>
          <a:solidFill>
            <a:srgbClr val="131A16"/>
          </a:solidFill>
          <a:ln w="12700">
            <a:solidFill>
              <a:srgbClr val="1E2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251960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14B87A"/>
                </a:solidFill>
                <a:latin typeface="Segoe UI"/>
              </a:rPr>
              <a:t>●  </a:t>
            </a:r>
            <a:r>
              <a:rPr sz="1700" b="0">
                <a:solidFill>
                  <a:srgbClr val="F0F4F1"/>
                </a:solidFill>
                <a:latin typeface="Segoe UI"/>
              </a:rPr>
              <a:t>Classifies into 6 categories: Food, Medical, Shelter, Blood, Education, Other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4B87A"/>
                </a:solidFill>
                <a:latin typeface="Segoe UI"/>
              </a:rPr>
              <a:t>●  </a:t>
            </a:r>
            <a:r>
              <a:rPr sz="1700" b="0">
                <a:solidFill>
                  <a:srgbClr val="F0F4F1"/>
                </a:solidFill>
                <a:latin typeface="Segoe UI"/>
              </a:rPr>
              <a:t>Assigns priority: low / medium / high / critical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4B87A"/>
                </a:solidFill>
                <a:latin typeface="Segoe UI"/>
              </a:rPr>
              <a:t>●  </a:t>
            </a:r>
            <a:r>
              <a:rPr sz="1700" b="0">
                <a:solidFill>
                  <a:srgbClr val="F0F4F1"/>
                </a:solidFill>
                <a:latin typeface="Segoe UI"/>
              </a:rPr>
              <a:t>LLM-based classification with Qwen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90"/>
                </a:solidFill>
                <a:latin typeface="Segoe UI"/>
              </a:rPr>
              <a:t>github.com/Atif1299/alkhidmat-relief-copilot  ·  relief-web-4idrhaffca-el.a.run.app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B87A"/>
                </a:solidFill>
                <a:latin typeface="Segoe UI"/>
              </a:rPr>
              <a:t>PIPELINE  ·  STEP 3 OF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0F4F1"/>
                </a:solidFill>
                <a:latin typeface="Segoe UI Semibold"/>
              </a:rPr>
              <a:t>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8A9B90"/>
                </a:solidFill>
                <a:latin typeface="Segoe UI"/>
              </a:rPr>
              <a:t>Retrieve Alkhidmat SOPs (pgvector RAG or keyword fallback)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451" y="2926080"/>
            <a:ext cx="1417320" cy="640080"/>
          </a:xfrm>
          <a:prstGeom prst="roundRect">
            <a:avLst/>
          </a:prstGeom>
          <a:solidFill>
            <a:srgbClr val="1A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4B87A"/>
                </a:solidFill>
                <a:latin typeface="Segoe UI"/>
              </a:rPr>
              <a:t>Intake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67915" y="3035808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4B87A"/>
                </a:solidFill>
                <a:latin typeface="Segoe U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23363" y="2926080"/>
            <a:ext cx="1417320" cy="640080"/>
          </a:xfrm>
          <a:prstGeom prst="roundRect">
            <a:avLst/>
          </a:prstGeom>
          <a:solidFill>
            <a:srgbClr val="1A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4B87A"/>
                </a:solidFill>
                <a:latin typeface="Segoe UI"/>
              </a:rPr>
              <a:t>Triage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49827" y="3035808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4B87A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05275" y="2926080"/>
            <a:ext cx="1417320" cy="640080"/>
          </a:xfrm>
          <a:prstGeom prst="roundRect">
            <a:avLst/>
          </a:prstGeom>
          <a:solidFill>
            <a:srgbClr val="14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0F0D"/>
                </a:solidFill>
                <a:latin typeface="Segoe UI"/>
              </a:rPr>
              <a:t>Knowledge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1739" y="3035808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8A9B90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87187" y="2926080"/>
            <a:ext cx="1417320" cy="640080"/>
          </a:xfrm>
          <a:prstGeom prst="roundRect">
            <a:avLst/>
          </a:prstGeom>
          <a:solidFill>
            <a:srgbClr val="1A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90"/>
                </a:solidFill>
                <a:latin typeface="Segoe UI"/>
              </a:rPr>
              <a:t>Integrity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3651" y="3035808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8A9B90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69099" y="2926080"/>
            <a:ext cx="1417320" cy="640080"/>
          </a:xfrm>
          <a:prstGeom prst="roundRect">
            <a:avLst/>
          </a:prstGeom>
          <a:solidFill>
            <a:srgbClr val="1A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90"/>
                </a:solidFill>
                <a:latin typeface="Segoe UI"/>
              </a:rPr>
              <a:t>HITL 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5563" y="3035808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8A9B90"/>
                </a:solidFill>
                <a:latin typeface="Segoe U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51011" y="2926080"/>
            <a:ext cx="1417320" cy="640080"/>
          </a:xfrm>
          <a:prstGeom prst="roundRect">
            <a:avLst/>
          </a:prstGeom>
          <a:solidFill>
            <a:srgbClr val="1A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90"/>
                </a:solidFill>
                <a:latin typeface="Segoe UI"/>
              </a:rPr>
              <a:t>Matcher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77475" y="3035808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8A9B90"/>
                </a:solidFill>
                <a:latin typeface="Segoe U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32923" y="2926080"/>
            <a:ext cx="1417320" cy="640080"/>
          </a:xfrm>
          <a:prstGeom prst="roundRect">
            <a:avLst/>
          </a:prstGeom>
          <a:solidFill>
            <a:srgbClr val="1A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90"/>
                </a:solidFill>
                <a:latin typeface="Segoe UI"/>
              </a:rPr>
              <a:t>Dispatch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023360"/>
            <a:ext cx="10881360" cy="2103120"/>
          </a:xfrm>
          <a:prstGeom prst="roundRect">
            <a:avLst/>
          </a:prstGeom>
          <a:solidFill>
            <a:srgbClr val="131A16"/>
          </a:solidFill>
          <a:ln w="12700">
            <a:solidFill>
              <a:srgbClr val="1E2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251960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14B87A"/>
                </a:solidFill>
                <a:latin typeface="Segoe UI"/>
              </a:rPr>
              <a:t>●  </a:t>
            </a:r>
            <a:r>
              <a:rPr sz="1700" b="0">
                <a:solidFill>
                  <a:srgbClr val="F0F4F1"/>
                </a:solidFill>
                <a:latin typeface="Segoe UI"/>
              </a:rPr>
              <a:t>Retrieves relevant Alkhidmat SOPs for the category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4B87A"/>
                </a:solidFill>
                <a:latin typeface="Segoe UI"/>
              </a:rPr>
              <a:t>●  </a:t>
            </a:r>
            <a:r>
              <a:rPr sz="1700" b="0">
                <a:solidFill>
                  <a:srgbClr val="F0F4F1"/>
                </a:solidFill>
                <a:latin typeface="Segoe UI"/>
              </a:rPr>
              <a:t>pgvector similarity search with keyword fallback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4B87A"/>
                </a:solidFill>
                <a:latin typeface="Segoe UI"/>
              </a:rPr>
              <a:t>●  </a:t>
            </a:r>
            <a:r>
              <a:rPr sz="1700" b="0">
                <a:solidFill>
                  <a:srgbClr val="F0F4F1"/>
                </a:solidFill>
                <a:latin typeface="Segoe UI"/>
              </a:rPr>
              <a:t>Citations shown as readable purpose + bullet points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90"/>
                </a:solidFill>
                <a:latin typeface="Segoe UI"/>
              </a:rPr>
              <a:t>github.com/Atif1299/alkhidmat-relief-copilot  ·  relief-web-4idrhaffca-el.a.run.app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B87A"/>
                </a:solidFill>
                <a:latin typeface="Segoe UI"/>
              </a:rPr>
              <a:t>PIPELINE  ·  STEP 4 OF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0F4F1"/>
                </a:solidFill>
                <a:latin typeface="Segoe UI Semibold"/>
              </a:rPr>
              <a:t>Integrity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8A9B90"/>
                </a:solidFill>
                <a:latin typeface="Segoe UI"/>
              </a:rPr>
              <a:t>Duplicate phone check · risk score · fraud heuristics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451" y="2926080"/>
            <a:ext cx="1417320" cy="640080"/>
          </a:xfrm>
          <a:prstGeom prst="roundRect">
            <a:avLst/>
          </a:prstGeom>
          <a:solidFill>
            <a:srgbClr val="1A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4B87A"/>
                </a:solidFill>
                <a:latin typeface="Segoe UI"/>
              </a:rPr>
              <a:t>Intake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67915" y="3035808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4B87A"/>
                </a:solidFill>
                <a:latin typeface="Segoe U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23363" y="2926080"/>
            <a:ext cx="1417320" cy="640080"/>
          </a:xfrm>
          <a:prstGeom prst="roundRect">
            <a:avLst/>
          </a:prstGeom>
          <a:solidFill>
            <a:srgbClr val="1A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4B87A"/>
                </a:solidFill>
                <a:latin typeface="Segoe UI"/>
              </a:rPr>
              <a:t>Triage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49827" y="3035808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4B87A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05275" y="2926080"/>
            <a:ext cx="1417320" cy="640080"/>
          </a:xfrm>
          <a:prstGeom prst="roundRect">
            <a:avLst/>
          </a:prstGeom>
          <a:solidFill>
            <a:srgbClr val="1A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4B87A"/>
                </a:solidFill>
                <a:latin typeface="Segoe UI"/>
              </a:rPr>
              <a:t>Knowledge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1739" y="3035808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4B87A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87187" y="2926080"/>
            <a:ext cx="1417320" cy="640080"/>
          </a:xfrm>
          <a:prstGeom prst="roundRect">
            <a:avLst/>
          </a:prstGeom>
          <a:solidFill>
            <a:srgbClr val="14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0F0D"/>
                </a:solidFill>
                <a:latin typeface="Segoe UI"/>
              </a:rPr>
              <a:t>Integrity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3651" y="3035808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8A9B90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69099" y="2926080"/>
            <a:ext cx="1417320" cy="640080"/>
          </a:xfrm>
          <a:prstGeom prst="roundRect">
            <a:avLst/>
          </a:prstGeom>
          <a:solidFill>
            <a:srgbClr val="1A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90"/>
                </a:solidFill>
                <a:latin typeface="Segoe UI"/>
              </a:rPr>
              <a:t>HITL 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5563" y="3035808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8A9B90"/>
                </a:solidFill>
                <a:latin typeface="Segoe U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51011" y="2926080"/>
            <a:ext cx="1417320" cy="640080"/>
          </a:xfrm>
          <a:prstGeom prst="roundRect">
            <a:avLst/>
          </a:prstGeom>
          <a:solidFill>
            <a:srgbClr val="1A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90"/>
                </a:solidFill>
                <a:latin typeface="Segoe UI"/>
              </a:rPr>
              <a:t>Matcher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77475" y="3035808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8A9B90"/>
                </a:solidFill>
                <a:latin typeface="Segoe U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32923" y="2926080"/>
            <a:ext cx="1417320" cy="640080"/>
          </a:xfrm>
          <a:prstGeom prst="roundRect">
            <a:avLst/>
          </a:prstGeom>
          <a:solidFill>
            <a:srgbClr val="1A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90"/>
                </a:solidFill>
                <a:latin typeface="Segoe UI"/>
              </a:rPr>
              <a:t>Dispatch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023360"/>
            <a:ext cx="10881360" cy="2103120"/>
          </a:xfrm>
          <a:prstGeom prst="roundRect">
            <a:avLst/>
          </a:prstGeom>
          <a:solidFill>
            <a:srgbClr val="131A16"/>
          </a:solidFill>
          <a:ln w="12700">
            <a:solidFill>
              <a:srgbClr val="1E2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251960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14B87A"/>
                </a:solidFill>
                <a:latin typeface="Segoe UI"/>
              </a:rPr>
              <a:t>●  </a:t>
            </a:r>
            <a:r>
              <a:rPr sz="1700" b="0">
                <a:solidFill>
                  <a:srgbClr val="F0F4F1"/>
                </a:solidFill>
                <a:latin typeface="Segoe UI"/>
              </a:rPr>
              <a:t>Checks phone / area for duplicate requests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4B87A"/>
                </a:solidFill>
                <a:latin typeface="Segoe UI"/>
              </a:rPr>
              <a:t>●  </a:t>
            </a:r>
            <a:r>
              <a:rPr sz="1700" b="0">
                <a:solidFill>
                  <a:srgbClr val="F0F4F1"/>
                </a:solidFill>
                <a:latin typeface="Segoe UI"/>
              </a:rPr>
              <a:t>Computes risk score with fraud heuristics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4B87A"/>
                </a:solidFill>
                <a:latin typeface="Segoe UI"/>
              </a:rPr>
              <a:t>●  </a:t>
            </a:r>
            <a:r>
              <a:rPr sz="1700" b="0">
                <a:solidFill>
                  <a:srgbClr val="F0F4F1"/>
                </a:solidFill>
                <a:latin typeface="Segoe UI"/>
              </a:rPr>
              <a:t>Flags cases that need HITL supervisor 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90"/>
                </a:solidFill>
                <a:latin typeface="Segoe UI"/>
              </a:rPr>
              <a:t>github.com/Atif1299/alkhidmat-relief-copilot  ·  relief-web-4idrhaffca-el.a.run.app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B87A"/>
                </a:solidFill>
                <a:latin typeface="Segoe UI"/>
              </a:rPr>
              <a:t>PIPELINE  ·  STEP 5 OF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0F4F1"/>
                </a:solidFill>
                <a:latin typeface="Segoe UI Semibold"/>
              </a:rPr>
              <a:t>HITL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8A9B90"/>
                </a:solidFill>
                <a:latin typeface="Segoe UI"/>
              </a:rPr>
              <a:t>Pause graph — wait for supervisor approve / reject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451" y="2926080"/>
            <a:ext cx="1417320" cy="640080"/>
          </a:xfrm>
          <a:prstGeom prst="roundRect">
            <a:avLst/>
          </a:prstGeom>
          <a:solidFill>
            <a:srgbClr val="1A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4B87A"/>
                </a:solidFill>
                <a:latin typeface="Segoe UI"/>
              </a:rPr>
              <a:t>Intake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67915" y="3035808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4B87A"/>
                </a:solidFill>
                <a:latin typeface="Segoe U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23363" y="2926080"/>
            <a:ext cx="1417320" cy="640080"/>
          </a:xfrm>
          <a:prstGeom prst="roundRect">
            <a:avLst/>
          </a:prstGeom>
          <a:solidFill>
            <a:srgbClr val="1A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4B87A"/>
                </a:solidFill>
                <a:latin typeface="Segoe UI"/>
              </a:rPr>
              <a:t>Triage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49827" y="3035808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4B87A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05275" y="2926080"/>
            <a:ext cx="1417320" cy="640080"/>
          </a:xfrm>
          <a:prstGeom prst="roundRect">
            <a:avLst/>
          </a:prstGeom>
          <a:solidFill>
            <a:srgbClr val="1A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4B87A"/>
                </a:solidFill>
                <a:latin typeface="Segoe UI"/>
              </a:rPr>
              <a:t>Knowledge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1739" y="3035808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4B87A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87187" y="2926080"/>
            <a:ext cx="1417320" cy="640080"/>
          </a:xfrm>
          <a:prstGeom prst="roundRect">
            <a:avLst/>
          </a:prstGeom>
          <a:solidFill>
            <a:srgbClr val="1A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4B87A"/>
                </a:solidFill>
                <a:latin typeface="Segoe UI"/>
              </a:rPr>
              <a:t>Integrity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3651" y="3035808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4B87A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69099" y="2926080"/>
            <a:ext cx="1417320" cy="640080"/>
          </a:xfrm>
          <a:prstGeom prst="roundRect">
            <a:avLst/>
          </a:prstGeom>
          <a:solidFill>
            <a:srgbClr val="14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0F0D"/>
                </a:solidFill>
                <a:latin typeface="Segoe UI"/>
              </a:rPr>
              <a:t>HITL 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5563" y="3035808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8A9B90"/>
                </a:solidFill>
                <a:latin typeface="Segoe U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51011" y="2926080"/>
            <a:ext cx="1417320" cy="640080"/>
          </a:xfrm>
          <a:prstGeom prst="roundRect">
            <a:avLst/>
          </a:prstGeom>
          <a:solidFill>
            <a:srgbClr val="1A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90"/>
                </a:solidFill>
                <a:latin typeface="Segoe UI"/>
              </a:rPr>
              <a:t>Matcher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77475" y="3035808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8A9B90"/>
                </a:solidFill>
                <a:latin typeface="Segoe U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32923" y="2926080"/>
            <a:ext cx="1417320" cy="640080"/>
          </a:xfrm>
          <a:prstGeom prst="roundRect">
            <a:avLst/>
          </a:prstGeom>
          <a:solidFill>
            <a:srgbClr val="1A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90"/>
                </a:solidFill>
                <a:latin typeface="Segoe UI"/>
              </a:rPr>
              <a:t>Dispatch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023360"/>
            <a:ext cx="10881360" cy="2103120"/>
          </a:xfrm>
          <a:prstGeom prst="roundRect">
            <a:avLst/>
          </a:prstGeom>
          <a:solidFill>
            <a:srgbClr val="131A16"/>
          </a:solidFill>
          <a:ln w="12700">
            <a:solidFill>
              <a:srgbClr val="1E2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251960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14B87A"/>
                </a:solidFill>
                <a:latin typeface="Segoe UI"/>
              </a:rPr>
              <a:t>●  </a:t>
            </a:r>
            <a:r>
              <a:rPr sz="1700" b="0">
                <a:solidFill>
                  <a:srgbClr val="F0F4F1"/>
                </a:solidFill>
                <a:latin typeface="Segoe UI"/>
              </a:rPr>
              <a:t>Graph pauses via LangGraph interrupt_before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4B87A"/>
                </a:solidFill>
                <a:latin typeface="Segoe UI"/>
              </a:rPr>
              <a:t>●  </a:t>
            </a:r>
            <a:r>
              <a:rPr sz="1700" b="0">
                <a:solidFill>
                  <a:srgbClr val="F0F4F1"/>
                </a:solidFill>
                <a:latin typeface="Segoe UI"/>
              </a:rPr>
              <a:t>Supervisor approves → pipeline resumes to Matcher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4B87A"/>
                </a:solidFill>
                <a:latin typeface="Segoe UI"/>
              </a:rPr>
              <a:t>●  </a:t>
            </a:r>
            <a:r>
              <a:rPr sz="1700" b="0">
                <a:solidFill>
                  <a:srgbClr val="F0F4F1"/>
                </a:solidFill>
                <a:latin typeface="Segoe UI"/>
              </a:rPr>
              <a:t>Supervisor rejects → case closed with traceable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90"/>
                </a:solidFill>
                <a:latin typeface="Segoe UI"/>
              </a:rPr>
              <a:t>github.com/Atif1299/alkhidmat-relief-copilot  ·  relief-web-4idrhaffca-el.a.run.app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B87A"/>
                </a:solidFill>
                <a:latin typeface="Segoe UI"/>
              </a:rPr>
              <a:t>PIPELINE  ·  STEP 6 OF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0F4F1"/>
                </a:solidFill>
                <a:latin typeface="Segoe UI Semibold"/>
              </a:rPr>
              <a:t>Matcher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8A9B90"/>
                </a:solidFill>
                <a:latin typeface="Segoe UI"/>
              </a:rPr>
              <a:t>Match inventory + assign volunteer by category and area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451" y="2926080"/>
            <a:ext cx="1417320" cy="640080"/>
          </a:xfrm>
          <a:prstGeom prst="roundRect">
            <a:avLst/>
          </a:prstGeom>
          <a:solidFill>
            <a:srgbClr val="1A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4B87A"/>
                </a:solidFill>
                <a:latin typeface="Segoe UI"/>
              </a:rPr>
              <a:t>Intake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67915" y="3035808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4B87A"/>
                </a:solidFill>
                <a:latin typeface="Segoe U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23363" y="2926080"/>
            <a:ext cx="1417320" cy="640080"/>
          </a:xfrm>
          <a:prstGeom prst="roundRect">
            <a:avLst/>
          </a:prstGeom>
          <a:solidFill>
            <a:srgbClr val="1A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4B87A"/>
                </a:solidFill>
                <a:latin typeface="Segoe UI"/>
              </a:rPr>
              <a:t>Triage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49827" y="3035808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4B87A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05275" y="2926080"/>
            <a:ext cx="1417320" cy="640080"/>
          </a:xfrm>
          <a:prstGeom prst="roundRect">
            <a:avLst/>
          </a:prstGeom>
          <a:solidFill>
            <a:srgbClr val="1A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4B87A"/>
                </a:solidFill>
                <a:latin typeface="Segoe UI"/>
              </a:rPr>
              <a:t>Knowledge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1739" y="3035808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4B87A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87187" y="2926080"/>
            <a:ext cx="1417320" cy="640080"/>
          </a:xfrm>
          <a:prstGeom prst="roundRect">
            <a:avLst/>
          </a:prstGeom>
          <a:solidFill>
            <a:srgbClr val="1A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4B87A"/>
                </a:solidFill>
                <a:latin typeface="Segoe UI"/>
              </a:rPr>
              <a:t>Integrity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3651" y="3035808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4B87A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69099" y="2926080"/>
            <a:ext cx="1417320" cy="640080"/>
          </a:xfrm>
          <a:prstGeom prst="roundRect">
            <a:avLst/>
          </a:prstGeom>
          <a:solidFill>
            <a:srgbClr val="1A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4B87A"/>
                </a:solidFill>
                <a:latin typeface="Segoe UI"/>
              </a:rPr>
              <a:t>HITL 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5563" y="3035808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4B87A"/>
                </a:solidFill>
                <a:latin typeface="Segoe U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51011" y="2926080"/>
            <a:ext cx="1417320" cy="640080"/>
          </a:xfrm>
          <a:prstGeom prst="roundRect">
            <a:avLst/>
          </a:prstGeom>
          <a:solidFill>
            <a:srgbClr val="14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0F0D"/>
                </a:solidFill>
                <a:latin typeface="Segoe UI"/>
              </a:rPr>
              <a:t>Matcher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77475" y="3035808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8A9B90"/>
                </a:solidFill>
                <a:latin typeface="Segoe U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32923" y="2926080"/>
            <a:ext cx="1417320" cy="640080"/>
          </a:xfrm>
          <a:prstGeom prst="roundRect">
            <a:avLst/>
          </a:prstGeom>
          <a:solidFill>
            <a:srgbClr val="1A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90"/>
                </a:solidFill>
                <a:latin typeface="Segoe UI"/>
              </a:rPr>
              <a:t>Dispatch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023360"/>
            <a:ext cx="10881360" cy="2103120"/>
          </a:xfrm>
          <a:prstGeom prst="roundRect">
            <a:avLst/>
          </a:prstGeom>
          <a:solidFill>
            <a:srgbClr val="131A16"/>
          </a:solidFill>
          <a:ln w="12700">
            <a:solidFill>
              <a:srgbClr val="1E2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251960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14B87A"/>
                </a:solidFill>
                <a:latin typeface="Segoe UI"/>
              </a:rPr>
              <a:t>●  </a:t>
            </a:r>
            <a:r>
              <a:rPr sz="1700" b="0">
                <a:solidFill>
                  <a:srgbClr val="F0F4F1"/>
                </a:solidFill>
                <a:latin typeface="Segoe UI"/>
              </a:rPr>
              <a:t>Matches available inventory by category and area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4B87A"/>
                </a:solidFill>
                <a:latin typeface="Segoe UI"/>
              </a:rPr>
              <a:t>●  </a:t>
            </a:r>
            <a:r>
              <a:rPr sz="1700" b="0">
                <a:solidFill>
                  <a:srgbClr val="F0F4F1"/>
                </a:solidFill>
                <a:latin typeface="Segoe UI"/>
              </a:rPr>
              <a:t>Assigns nearest volunteer from the pool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4B87A"/>
                </a:solidFill>
                <a:latin typeface="Segoe UI"/>
              </a:rPr>
              <a:t>●  </a:t>
            </a:r>
            <a:r>
              <a:rPr sz="1700" b="0">
                <a:solidFill>
                  <a:srgbClr val="F0F4F1"/>
                </a:solidFill>
                <a:latin typeface="Segoe UI"/>
              </a:rPr>
              <a:t>Resource match stored on the case record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90"/>
                </a:solidFill>
                <a:latin typeface="Segoe UI"/>
              </a:rPr>
              <a:t>github.com/Atif1299/alkhidmat-relief-copilot  ·  relief-web-4idrhaffca-el.a.run.app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B87A"/>
                </a:solidFill>
                <a:latin typeface="Segoe UI"/>
              </a:rPr>
              <a:t>PIPELINE  ·  STEP 7 OF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0F4F1"/>
                </a:solidFill>
                <a:latin typeface="Segoe UI Semibold"/>
              </a:rPr>
              <a:t>Dispatch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8A9B90"/>
                </a:solidFill>
                <a:latin typeface="Segoe UI"/>
              </a:rPr>
              <a:t>Create ticket AKD-… · notify requester · log audit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451" y="2926080"/>
            <a:ext cx="1417320" cy="640080"/>
          </a:xfrm>
          <a:prstGeom prst="roundRect">
            <a:avLst/>
          </a:prstGeom>
          <a:solidFill>
            <a:srgbClr val="1A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4B87A"/>
                </a:solidFill>
                <a:latin typeface="Segoe UI"/>
              </a:rPr>
              <a:t>Intake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67915" y="3035808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4B87A"/>
                </a:solidFill>
                <a:latin typeface="Segoe U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23363" y="2926080"/>
            <a:ext cx="1417320" cy="640080"/>
          </a:xfrm>
          <a:prstGeom prst="roundRect">
            <a:avLst/>
          </a:prstGeom>
          <a:solidFill>
            <a:srgbClr val="1A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4B87A"/>
                </a:solidFill>
                <a:latin typeface="Segoe UI"/>
              </a:rPr>
              <a:t>Triage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49827" y="3035808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4B87A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05275" y="2926080"/>
            <a:ext cx="1417320" cy="640080"/>
          </a:xfrm>
          <a:prstGeom prst="roundRect">
            <a:avLst/>
          </a:prstGeom>
          <a:solidFill>
            <a:srgbClr val="1A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4B87A"/>
                </a:solidFill>
                <a:latin typeface="Segoe UI"/>
              </a:rPr>
              <a:t>Knowledge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1739" y="3035808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4B87A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87187" y="2926080"/>
            <a:ext cx="1417320" cy="640080"/>
          </a:xfrm>
          <a:prstGeom prst="roundRect">
            <a:avLst/>
          </a:prstGeom>
          <a:solidFill>
            <a:srgbClr val="1A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4B87A"/>
                </a:solidFill>
                <a:latin typeface="Segoe UI"/>
              </a:rPr>
              <a:t>Integrity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3651" y="3035808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4B87A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69099" y="2926080"/>
            <a:ext cx="1417320" cy="640080"/>
          </a:xfrm>
          <a:prstGeom prst="roundRect">
            <a:avLst/>
          </a:prstGeom>
          <a:solidFill>
            <a:srgbClr val="1A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4B87A"/>
                </a:solidFill>
                <a:latin typeface="Segoe UI"/>
              </a:rPr>
              <a:t>HITL 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5563" y="3035808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4B87A"/>
                </a:solidFill>
                <a:latin typeface="Segoe U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51011" y="2926080"/>
            <a:ext cx="1417320" cy="640080"/>
          </a:xfrm>
          <a:prstGeom prst="roundRect">
            <a:avLst/>
          </a:prstGeom>
          <a:solidFill>
            <a:srgbClr val="1A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4B87A"/>
                </a:solidFill>
                <a:latin typeface="Segoe UI"/>
              </a:rPr>
              <a:t>Matcher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77475" y="3035808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4B87A"/>
                </a:solidFill>
                <a:latin typeface="Segoe U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32923" y="2926080"/>
            <a:ext cx="1417320" cy="640080"/>
          </a:xfrm>
          <a:prstGeom prst="roundRect">
            <a:avLst/>
          </a:prstGeom>
          <a:solidFill>
            <a:srgbClr val="14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0F0D"/>
                </a:solidFill>
                <a:latin typeface="Segoe UI"/>
              </a:rPr>
              <a:t>Dispatch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023360"/>
            <a:ext cx="10881360" cy="2103120"/>
          </a:xfrm>
          <a:prstGeom prst="roundRect">
            <a:avLst/>
          </a:prstGeom>
          <a:solidFill>
            <a:srgbClr val="131A16"/>
          </a:solidFill>
          <a:ln w="12700">
            <a:solidFill>
              <a:srgbClr val="1E2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251960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14B87A"/>
                </a:solidFill>
                <a:latin typeface="Segoe UI"/>
              </a:rPr>
              <a:t>●  </a:t>
            </a:r>
            <a:r>
              <a:rPr sz="1700" b="0">
                <a:solidFill>
                  <a:srgbClr val="F0F4F1"/>
                </a:solidFill>
                <a:latin typeface="Segoe UI"/>
              </a:rPr>
              <a:t>Creates ticket: AKD-YYYYMMDD-XXXXXX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4B87A"/>
                </a:solidFill>
                <a:latin typeface="Segoe UI"/>
              </a:rPr>
              <a:t>●  </a:t>
            </a:r>
            <a:r>
              <a:rPr sz="1700" b="0">
                <a:solidFill>
                  <a:srgbClr val="F0F4F1"/>
                </a:solidFill>
                <a:latin typeface="Segoe UI"/>
              </a:rPr>
              <a:t>Logs full audit trail + case events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4B87A"/>
                </a:solidFill>
                <a:latin typeface="Segoe UI"/>
              </a:rPr>
              <a:t>●  </a:t>
            </a:r>
            <a:r>
              <a:rPr sz="1700" b="0">
                <a:solidFill>
                  <a:srgbClr val="F0F4F1"/>
                </a:solidFill>
                <a:latin typeface="Segoe UI"/>
              </a:rPr>
              <a:t>Requester sees ticket ID or 'waiting for supervisor'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90"/>
                </a:solidFill>
                <a:latin typeface="Segoe UI"/>
              </a:rPr>
              <a:t>github.com/Atif1299/alkhidmat-relief-copilot  ·  relief-web-4idrhaffca-el.a.run.app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B87A"/>
                </a:solidFill>
                <a:latin typeface="Segoe UI"/>
              </a:rPr>
              <a:t>HUMAN-IN-THE-LOOP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0F4F1"/>
                </a:solidFill>
                <a:latin typeface="Segoe UI Semibold"/>
              </a:rPr>
              <a:t>Critical cases pause for
human approval.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14B87A"/>
                </a:solidFill>
                <a:latin typeface="Segoe UI"/>
              </a:rPr>
              <a:t>●  </a:t>
            </a:r>
            <a:r>
              <a:rPr sz="1800" b="0">
                <a:solidFill>
                  <a:srgbClr val="F0F4F1"/>
                </a:solidFill>
                <a:latin typeface="Segoe UI"/>
              </a:rPr>
              <a:t>Integrity flags duplicate / fraud / high-risk cases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4B87A"/>
                </a:solidFill>
                <a:latin typeface="Segoe UI"/>
              </a:rPr>
              <a:t>●  </a:t>
            </a:r>
            <a:r>
              <a:rPr sz="1800" b="0">
                <a:solidFill>
                  <a:srgbClr val="F0F4F1"/>
                </a:solidFill>
                <a:latin typeface="Segoe UI"/>
              </a:rPr>
              <a:t>LangGraph interrupt_before pauses the graph at HITL gate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4B87A"/>
                </a:solidFill>
                <a:latin typeface="Segoe UI"/>
              </a:rPr>
              <a:t>●  </a:t>
            </a:r>
            <a:r>
              <a:rPr sz="1800" b="0">
                <a:solidFill>
                  <a:srgbClr val="F0F4F1"/>
                </a:solidFill>
                <a:latin typeface="Segoe UI"/>
              </a:rPr>
              <a:t>Supervisor reviews case with full agent trace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4B87A"/>
                </a:solidFill>
                <a:latin typeface="Segoe UI"/>
              </a:rPr>
              <a:t>●  </a:t>
            </a:r>
            <a:r>
              <a:rPr sz="1800" b="0">
                <a:solidFill>
                  <a:srgbClr val="F0F4F1"/>
                </a:solidFill>
                <a:latin typeface="Segoe UI"/>
              </a:rPr>
              <a:t>Approve → pipeline resumes to Matcher → Dispatch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4B87A"/>
                </a:solidFill>
                <a:latin typeface="Segoe UI"/>
              </a:rPr>
              <a:t>●  </a:t>
            </a:r>
            <a:r>
              <a:rPr sz="1800" b="0">
                <a:solidFill>
                  <a:srgbClr val="F0F4F1"/>
                </a:solidFill>
                <a:latin typeface="Segoe UI"/>
              </a:rPr>
              <a:t>Reject → case closed with traceable decision and note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4B87A"/>
                </a:solidFill>
                <a:latin typeface="Segoe UI"/>
              </a:rPr>
              <a:t>●  </a:t>
            </a:r>
            <a:r>
              <a:rPr sz="1800" b="0">
                <a:solidFill>
                  <a:srgbClr val="F0F4F1"/>
                </a:solidFill>
                <a:latin typeface="Segoe UI"/>
              </a:rPr>
              <a:t>Durable checkpoints survive restarts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3017520"/>
            <a:ext cx="3200400" cy="777240"/>
          </a:xfrm>
          <a:prstGeom prst="roundRect">
            <a:avLst/>
          </a:prstGeom>
          <a:solidFill>
            <a:srgbClr val="14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0F0D"/>
                </a:solidFill>
                <a:latin typeface="Segoe UI"/>
              </a:rPr>
              <a:t>✓  Approve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4023360"/>
            <a:ext cx="3200400" cy="777240"/>
          </a:xfrm>
          <a:prstGeom prst="roundRect">
            <a:avLst/>
          </a:prstGeom>
          <a:solidFill>
            <a:srgbClr val="E8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0F4F1"/>
                </a:solidFill>
                <a:latin typeface="Segoe UI"/>
              </a:rPr>
              <a:t>✗  Reject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50292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A9B90"/>
                </a:solidFill>
                <a:latin typeface="Segoe UI"/>
              </a:rPr>
              <a:t>Governed by LangGraph
checkpoints + durable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90"/>
                </a:solidFill>
                <a:latin typeface="Segoe UI"/>
              </a:rPr>
              <a:t>github.com/Atif1299/alkhidmat-relief-copilot  ·  relief-web-4idrhaffca-el.a.run.app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B87A"/>
                </a:solidFill>
                <a:latin typeface="Segoe UI"/>
              </a:rPr>
              <a:t>PRODUCT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0F4F1"/>
                </a:solidFill>
                <a:latin typeface="Segoe UI Semibold"/>
              </a:rPr>
              <a:t>Citizens submit publicly.
Operators use staff login.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743200"/>
            <a:ext cx="5212080" cy="3291840"/>
          </a:xfrm>
          <a:prstGeom prst="roundRect">
            <a:avLst/>
          </a:prstGeom>
          <a:solidFill>
            <a:srgbClr val="131A16"/>
          </a:solidFill>
          <a:ln w="19050">
            <a:solidFill>
              <a:srgbClr val="14B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8803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B87A"/>
                </a:solidFill>
                <a:latin typeface="Segoe UI"/>
              </a:rPr>
              <a:t>PUBLIC  ·  /request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37560"/>
            <a:ext cx="4663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14B87A"/>
                </a:solidFill>
                <a:latin typeface="Segoe UI"/>
              </a:rPr>
              <a:t>●  </a:t>
            </a:r>
            <a:r>
              <a:rPr sz="1600" b="0">
                <a:solidFill>
                  <a:srgbClr val="F0F4F1"/>
                </a:solidFill>
                <a:latin typeface="Segoe UI"/>
              </a:rPr>
              <a:t>No account or password required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14B87A"/>
                </a:solidFill>
                <a:latin typeface="Segoe UI"/>
              </a:rPr>
              <a:t>●  </a:t>
            </a:r>
            <a:r>
              <a:rPr sz="1600" b="0">
                <a:solidFill>
                  <a:srgbClr val="F0F4F1"/>
                </a:solidFill>
                <a:latin typeface="Segoe UI"/>
              </a:rPr>
              <a:t>Landing → Request aid → submit in Urdu or English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14B87A"/>
                </a:solidFill>
                <a:latin typeface="Segoe UI"/>
              </a:rPr>
              <a:t>●  </a:t>
            </a:r>
            <a:r>
              <a:rPr sz="1600" b="0">
                <a:solidFill>
                  <a:srgbClr val="F0F4F1"/>
                </a:solidFill>
                <a:latin typeface="Segoe UI"/>
              </a:rPr>
              <a:t>Sees ticket ID or 'waiting for supervisor'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14B87A"/>
                </a:solidFill>
                <a:latin typeface="Segoe UI"/>
              </a:rPr>
              <a:t>●  </a:t>
            </a:r>
            <a:r>
              <a:rPr sz="1600" b="0">
                <a:solidFill>
                  <a:srgbClr val="F0F4F1"/>
                </a:solidFill>
                <a:latin typeface="Segoe UI"/>
              </a:rPr>
              <a:t>Check status by ticket + phone on /status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743200"/>
            <a:ext cx="5212080" cy="3291840"/>
          </a:xfrm>
          <a:prstGeom prst="roundRect">
            <a:avLst/>
          </a:prstGeom>
          <a:solidFill>
            <a:srgbClr val="131A16"/>
          </a:solidFill>
          <a:ln w="1905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8803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84B"/>
                </a:solidFill>
                <a:latin typeface="Segoe UI"/>
              </a:rPr>
              <a:t>STAFF  ·  /login (JWT)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337560"/>
            <a:ext cx="4663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D4A84B"/>
                </a:solidFill>
                <a:latin typeface="Segoe UI"/>
              </a:rPr>
              <a:t>●  </a:t>
            </a:r>
            <a:r>
              <a:rPr sz="1600" b="0">
                <a:solidFill>
                  <a:srgbClr val="F0F4F1"/>
                </a:solidFill>
                <a:latin typeface="Segoe UI"/>
              </a:rPr>
              <a:t>Desk operator: tickets, dashboard, case detail, PDF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D4A84B"/>
                </a:solidFill>
                <a:latin typeface="Segoe UI"/>
              </a:rPr>
              <a:t>●  </a:t>
            </a:r>
            <a:r>
              <a:rPr sz="1600" b="0">
                <a:solidFill>
                  <a:srgbClr val="F0F4F1"/>
                </a:solidFill>
                <a:latin typeface="Segoe UI"/>
              </a:rPr>
              <a:t>Supervisor: approve/reject HITL + all desk views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D4A84B"/>
                </a:solidFill>
                <a:latin typeface="Segoe UI"/>
              </a:rPr>
              <a:t>●  </a:t>
            </a:r>
            <a:r>
              <a:rPr sz="1600" b="0">
                <a:solidFill>
                  <a:srgbClr val="F0F4F1"/>
                </a:solidFill>
                <a:latin typeface="Segoe UI"/>
              </a:rPr>
              <a:t>Agent trace + SOP citations + case timeline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D4A84B"/>
                </a:solidFill>
                <a:latin typeface="Segoe UI"/>
              </a:rPr>
              <a:t>●  </a:t>
            </a:r>
            <a:r>
              <a:rPr sz="1600" b="0">
                <a:solidFill>
                  <a:srgbClr val="F0F4F1"/>
                </a:solidFill>
                <a:latin typeface="Segoe UI"/>
              </a:rPr>
              <a:t>Role-based API gates (JWT HS256)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90"/>
                </a:solidFill>
                <a:latin typeface="Segoe UI"/>
              </a:rPr>
              <a:t>github.com/Atif1299/alkhidmat-relief-copilot  ·  relief-web-4idrhaffca-el.a.run.app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B87A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0F4F1"/>
                </a:solidFill>
                <a:latin typeface="Segoe UI Semibold"/>
              </a:rPr>
              <a:t>System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5212080" cy="822960"/>
          </a:xfrm>
          <a:prstGeom prst="roundRect">
            <a:avLst/>
          </a:prstGeom>
          <a:solidFill>
            <a:srgbClr val="131A16"/>
          </a:solidFill>
          <a:ln w="19050">
            <a:solidFill>
              <a:srgbClr val="14B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B87A"/>
                </a:solidFill>
                <a:latin typeface="Segoe UI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7004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1"/>
                </a:solidFill>
                <a:latin typeface="Segoe UI"/>
              </a:rPr>
              <a:t>Next.js 14 App Router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286000"/>
            <a:ext cx="5212080" cy="822960"/>
          </a:xfrm>
          <a:prstGeom prst="roundRect">
            <a:avLst/>
          </a:prstGeom>
          <a:solidFill>
            <a:srgbClr val="131A16"/>
          </a:solidFill>
          <a:ln w="19050">
            <a:solidFill>
              <a:srgbClr val="14B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3774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B87A"/>
                </a:solidFill>
                <a:latin typeface="Segoe UI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67004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1"/>
                </a:solidFill>
                <a:latin typeface="Segoe UI"/>
              </a:rPr>
              <a:t>FastAPI + SSE streaming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83280"/>
            <a:ext cx="5212080" cy="822960"/>
          </a:xfrm>
          <a:prstGeom prst="roundRect">
            <a:avLst/>
          </a:prstGeom>
          <a:solidFill>
            <a:srgbClr val="131A16"/>
          </a:solidFill>
          <a:ln w="19050">
            <a:solidFill>
              <a:srgbClr val="14B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4747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B87A"/>
                </a:solidFill>
                <a:latin typeface="Segoe UI"/>
              </a:rPr>
              <a:t>Orchestration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6732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1"/>
                </a:solidFill>
                <a:latin typeface="Segoe UI"/>
              </a:rPr>
              <a:t>LangGraph multi-agent pipeline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383280"/>
            <a:ext cx="5212080" cy="822960"/>
          </a:xfrm>
          <a:prstGeom prst="roundRect">
            <a:avLst/>
          </a:prstGeom>
          <a:solidFill>
            <a:srgbClr val="131A16"/>
          </a:solidFill>
          <a:ln w="19050">
            <a:solidFill>
              <a:srgbClr val="14B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34747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B87A"/>
                </a:solidFill>
                <a:latin typeface="Segoe UI"/>
              </a:rP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76732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1"/>
                </a:solidFill>
                <a:latin typeface="Segoe UI"/>
              </a:rPr>
              <a:t>PostgreSQL + pgvector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480560"/>
            <a:ext cx="10881360" cy="822960"/>
          </a:xfrm>
          <a:prstGeom prst="roundRect">
            <a:avLst/>
          </a:prstGeom>
          <a:solidFill>
            <a:srgbClr val="131A16"/>
          </a:solidFill>
          <a:ln w="1905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57200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84B"/>
                </a:solidFill>
                <a:latin typeface="Segoe UI"/>
              </a:rPr>
              <a:t>LLM + Embeddings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64608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1"/>
                </a:solidFill>
                <a:latin typeface="Segoe UI"/>
              </a:rPr>
              <a:t>Qwen via DashScope (Alibaba Cloud)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532120"/>
            <a:ext cx="10881360" cy="594360"/>
          </a:xfrm>
          <a:prstGeom prst="roundRect">
            <a:avLst/>
          </a:prstGeom>
          <a:solidFill>
            <a:srgbClr val="131A16"/>
          </a:solidFill>
          <a:ln w="19050">
            <a:solidFill>
              <a:srgbClr val="8A9B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623559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A9B90"/>
                </a:solidFill>
                <a:latin typeface="Segoe UI"/>
              </a:rPr>
              <a:t>Deploy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916168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1"/>
                </a:solidFill>
                <a:latin typeface="Segoe UI"/>
              </a:rPr>
              <a:t>GCP Cloud Run + Cloud SQL (live)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4B87A"/>
                </a:solidFill>
                <a:latin typeface="Segoe U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31546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4B87A"/>
                </a:solidFill>
                <a:latin typeface="Segoe UI"/>
              </a:rPr>
              <a:t>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31546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4B87A"/>
                </a:solidFill>
                <a:latin typeface="Segoe UI"/>
              </a:rPr>
              <a:t>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90"/>
                </a:solidFill>
                <a:latin typeface="Segoe UI"/>
              </a:rPr>
              <a:t>github.com/Atif1299/alkhidmat-relief-copilot  ·  relief-web-4idrhaffca-el.a.run.app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B87A"/>
                </a:solidFill>
                <a:latin typeface="Segoe UI"/>
              </a:rPr>
              <a:t>DEMO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0F4F1"/>
                </a:solidFill>
                <a:latin typeface="Segoe UI Semibold"/>
              </a:rPr>
              <a:t>Citizen → Desk → HITL → Dispatch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881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14B87A"/>
                </a:solidFill>
                <a:latin typeface="Segoe UI"/>
              </a:rPr>
              <a:t>●  </a:t>
            </a:r>
            <a:r>
              <a:rPr sz="1800" b="0">
                <a:solidFill>
                  <a:srgbClr val="F0F4F1"/>
                </a:solidFill>
                <a:latin typeface="Segoe UI"/>
              </a:rPr>
              <a:t>Open landing (/) and click Request aid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4B87A"/>
                </a:solidFill>
                <a:latin typeface="Segoe UI"/>
              </a:rPr>
              <a:t>●  </a:t>
            </a:r>
            <a:r>
              <a:rPr sz="1800" b="0">
                <a:solidFill>
                  <a:srgbClr val="F0F4F1"/>
                </a:solidFill>
                <a:latin typeface="Segoe UI"/>
              </a:rPr>
              <a:t>Submit an Urdu or English request — no account needed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4B87A"/>
                </a:solidFill>
                <a:latin typeface="Segoe UI"/>
              </a:rPr>
              <a:t>●  </a:t>
            </a:r>
            <a:r>
              <a:rPr sz="1800" b="0">
                <a:solidFill>
                  <a:srgbClr val="F0F4F1"/>
                </a:solidFill>
                <a:latin typeface="Segoe UI"/>
              </a:rPr>
              <a:t>Watch live pipeline strip: each agent lights as it runs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4B87A"/>
                </a:solidFill>
                <a:latin typeface="Segoe UI"/>
              </a:rPr>
              <a:t>●  </a:t>
            </a:r>
            <a:r>
              <a:rPr sz="1800" b="0">
                <a:solidFill>
                  <a:srgbClr val="F0F4F1"/>
                </a:solidFill>
                <a:latin typeface="Segoe UI"/>
              </a:rPr>
              <a:t>See ticket ID or 'Waiting for supervisor' above the fold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4B87A"/>
                </a:solidFill>
                <a:latin typeface="Segoe UI"/>
              </a:rPr>
              <a:t>●  </a:t>
            </a:r>
            <a:r>
              <a:rPr sz="1800" b="0">
                <a:solidFill>
                  <a:srgbClr val="F0F4F1"/>
                </a:solidFill>
                <a:latin typeface="Segoe UI"/>
              </a:rPr>
              <a:t>Run a duplicate/critical case to trigger HITL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4B87A"/>
                </a:solidFill>
                <a:latin typeface="Segoe UI"/>
              </a:rPr>
              <a:t>●  </a:t>
            </a:r>
            <a:r>
              <a:rPr sz="1800" b="0">
                <a:solidFill>
                  <a:srgbClr val="F0F4F1"/>
                </a:solidFill>
                <a:latin typeface="Segoe UI"/>
              </a:rPr>
              <a:t>Login as supervisor → approve → ticket dispatched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4B87A"/>
                </a:solidFill>
                <a:latin typeface="Segoe UI"/>
              </a:rPr>
              <a:t>●  </a:t>
            </a:r>
            <a:r>
              <a:rPr sz="1800" b="0">
                <a:solidFill>
                  <a:srgbClr val="F0F4F1"/>
                </a:solidFill>
                <a:latin typeface="Segoe UI"/>
              </a:rPr>
              <a:t>Open case timeline → export PDF for ops record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4B87A"/>
                </a:solidFill>
                <a:latin typeface="Segoe UI"/>
              </a:rPr>
              <a:t>●  </a:t>
            </a:r>
            <a:r>
              <a:rPr sz="1800" b="0">
                <a:solidFill>
                  <a:srgbClr val="F0F4F1"/>
                </a:solidFill>
                <a:latin typeface="Segoe UI"/>
              </a:rPr>
              <a:t>Check status as citizen: ticket + phone on /status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90"/>
                </a:solidFill>
                <a:latin typeface="Segoe UI"/>
              </a:rPr>
              <a:t>github.com/Atif1299/alkhidmat-relief-copilot  ·  relief-web-4idrhaffca-el.a.run.app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B87A"/>
                </a:solidFill>
                <a:latin typeface="Segoe UI"/>
              </a:rPr>
              <a:t>WHAT WE DELIVER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0F4F1"/>
                </a:solidFill>
                <a:latin typeface="Segoe UI Semibold"/>
              </a:rPr>
              <a:t>A governed aid desk,
ready for real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B87A"/>
                </a:solidFill>
                <a:latin typeface="Segoe UI"/>
              </a:rPr>
              <a:t>Product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14B87A"/>
                </a:solidFill>
                <a:latin typeface="Segoe UI"/>
              </a:rPr>
              <a:t>●  </a:t>
            </a:r>
            <a:r>
              <a:rPr sz="1600" b="0">
                <a:solidFill>
                  <a:srgbClr val="F0F4F1"/>
                </a:solidFill>
                <a:latin typeface="Segoe UI"/>
              </a:rPr>
              <a:t>Verified, prioritized ticket creation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14B87A"/>
                </a:solidFill>
                <a:latin typeface="Segoe UI"/>
              </a:rPr>
              <a:t>●  </a:t>
            </a:r>
            <a:r>
              <a:rPr sz="1600" b="0">
                <a:solidFill>
                  <a:srgbClr val="F0F4F1"/>
                </a:solidFill>
                <a:latin typeface="Segoe UI"/>
              </a:rPr>
              <a:t>Duplicate detection + integrity risk score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14B87A"/>
                </a:solidFill>
                <a:latin typeface="Segoe UI"/>
              </a:rPr>
              <a:t>●  </a:t>
            </a:r>
            <a:r>
              <a:rPr sz="1600" b="0">
                <a:solidFill>
                  <a:srgbClr val="F0F4F1"/>
                </a:solidFill>
                <a:latin typeface="Segoe UI"/>
              </a:rPr>
              <a:t>Resource matching + volunteer assignment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14B87A"/>
                </a:solidFill>
                <a:latin typeface="Segoe UI"/>
              </a:rPr>
              <a:t>●  </a:t>
            </a:r>
            <a:r>
              <a:rPr sz="1600" b="0">
                <a:solidFill>
                  <a:srgbClr val="F0F4F1"/>
                </a:solidFill>
                <a:latin typeface="Segoe UI"/>
              </a:rPr>
              <a:t>Supervisor HITL for critical cases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14B87A"/>
                </a:solidFill>
                <a:latin typeface="Segoe UI"/>
              </a:rPr>
              <a:t>●  </a:t>
            </a:r>
            <a:r>
              <a:rPr sz="1600" b="0">
                <a:solidFill>
                  <a:srgbClr val="F0F4F1"/>
                </a:solidFill>
                <a:latin typeface="Segoe UI"/>
              </a:rPr>
              <a:t>Agent trace + SOP citations + timeline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14B87A"/>
                </a:solidFill>
                <a:latin typeface="Segoe UI"/>
              </a:rPr>
              <a:t>●  </a:t>
            </a:r>
            <a:r>
              <a:rPr sz="1600" b="0">
                <a:solidFill>
                  <a:srgbClr val="F0F4F1"/>
                </a:solidFill>
                <a:latin typeface="Segoe UI"/>
              </a:rPr>
              <a:t>PDF export for desk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84B"/>
                </a:solidFill>
                <a:latin typeface="Segoe UI"/>
              </a:rPr>
              <a:t>Tech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329184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D4A84B"/>
                </a:solidFill>
                <a:latin typeface="Segoe UI"/>
              </a:rPr>
              <a:t>●  </a:t>
            </a:r>
            <a:r>
              <a:rPr sz="1600" b="0">
                <a:solidFill>
                  <a:srgbClr val="F0F4F1"/>
                </a:solidFill>
                <a:latin typeface="Segoe UI"/>
              </a:rPr>
              <a:t>LangGraph (orchestration + checkpoints)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D4A84B"/>
                </a:solidFill>
                <a:latin typeface="Segoe UI"/>
              </a:rPr>
              <a:t>●  </a:t>
            </a:r>
            <a:r>
              <a:rPr sz="1600" b="0">
                <a:solidFill>
                  <a:srgbClr val="F0F4F1"/>
                </a:solidFill>
                <a:latin typeface="Segoe UI"/>
              </a:rPr>
              <a:t>FastAPI + SSE real-time streaming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D4A84B"/>
                </a:solidFill>
                <a:latin typeface="Segoe UI"/>
              </a:rPr>
              <a:t>●  </a:t>
            </a:r>
            <a:r>
              <a:rPr sz="1600" b="0">
                <a:solidFill>
                  <a:srgbClr val="F0F4F1"/>
                </a:solidFill>
                <a:latin typeface="Segoe UI"/>
              </a:rPr>
              <a:t>PostgreSQL + pgvector (RAG)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D4A84B"/>
                </a:solidFill>
                <a:latin typeface="Segoe UI"/>
              </a:rPr>
              <a:t>●  </a:t>
            </a:r>
            <a:r>
              <a:rPr sz="1600" b="0">
                <a:solidFill>
                  <a:srgbClr val="F0F4F1"/>
                </a:solidFill>
                <a:latin typeface="Segoe UI"/>
              </a:rPr>
              <a:t>Qwen via DashScope (Alibaba Cloud)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D4A84B"/>
                </a:solidFill>
                <a:latin typeface="Segoe UI"/>
              </a:rPr>
              <a:t>●  </a:t>
            </a:r>
            <a:r>
              <a:rPr sz="1600" b="0">
                <a:solidFill>
                  <a:srgbClr val="F0F4F1"/>
                </a:solidFill>
                <a:latin typeface="Segoe UI"/>
              </a:rPr>
              <a:t>Next.js 14 (App Router)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D4A84B"/>
                </a:solidFill>
                <a:latin typeface="Segoe UI"/>
              </a:rPr>
              <a:t>●  </a:t>
            </a:r>
            <a:r>
              <a:rPr sz="1600" b="0">
                <a:solidFill>
                  <a:srgbClr val="F0F4F1"/>
                </a:solidFill>
                <a:latin typeface="Segoe UI"/>
              </a:rPr>
              <a:t>GCP Cloud Run + Cloud SQL (live)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90"/>
                </a:solidFill>
                <a:latin typeface="Segoe UI"/>
              </a:rPr>
              <a:t>github.com/Atif1299/alkhidmat-relief-copilot  ·  relief-web-4idrhaffca-el.a.run.app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B87A"/>
                </a:solidFill>
                <a:latin typeface="Segoe UI"/>
              </a:rPr>
              <a:t>ALKHIDMAT RELIEF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881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0F4F1"/>
                </a:solidFill>
                <a:latin typeface="Segoe UI Semibold"/>
              </a:rPr>
              <a:t>From messy aid request to
verified ticket — with a
human when it matters.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9B90"/>
                </a:solidFill>
                <a:latin typeface="Segoe UI"/>
              </a:rPr>
              <a:t>Muhammad Atif  ·  P00627  ·  Alibaba Cloud AI Hackathon Pakistan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486400"/>
            <a:ext cx="3657600" cy="548640"/>
          </a:xfrm>
          <a:prstGeom prst="roundRect">
            <a:avLst/>
          </a:prstGeom>
          <a:solidFill>
            <a:srgbClr val="14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0F0D"/>
                </a:solidFill>
                <a:latin typeface="Segoe UI"/>
              </a:rPr>
              <a:t>github.com/Atif1299/alkhidmat-relief-copilot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5486400"/>
            <a:ext cx="5029200" cy="548640"/>
          </a:xfrm>
          <a:prstGeom prst="round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0F0D"/>
                </a:solidFill>
                <a:latin typeface="Segoe UI"/>
              </a:rPr>
              <a:t>Live: relief-web-4idrhaffca-el.a.run.app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90"/>
                </a:solidFill>
                <a:latin typeface="Segoe UI"/>
              </a:rPr>
              <a:t>github.com/Atif1299/alkhidmat-relief-copilot  ·  relief-web-4idrhaffca-el.a.run.app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