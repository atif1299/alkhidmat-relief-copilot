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 title slide. Introduce project name, event, builder.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problem: aid requests are messy, routing is slow, duplicates waste resources.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Solution overview: agentic, bilingual, HITL — turns requests to tickets in &lt;60s.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agents: Intake → Triage → Knowledge → Integrity → Matcher → Dispatch. HITL gate on critical cases.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Stack: Qwen/DashScope, LangGraph, FastAPI, Next.js 14, PostgreSQL/pgvector, GCP Cloud Run.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roles: Citizen (anonymous), Desk Operator, Supervisor. Each has a clear journey.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normal food request, duplicate phone, critical medical escalation.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Impact: sub-60s ticketing, 100% AKD reference, live dashboard, audit trail.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Cloud: Alibaba DashScope for Qwen LLM, GCP Cloud Run + Cloud SQL live deployment.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Closing: tagline, live URL, GitHub, contact. Leave on screen after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C5963A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0" y="-914400"/>
            <a:ext cx="2926080" cy="2926080"/>
          </a:xfrm>
          <a:prstGeom prst="ellipse">
            <a:avLst/>
          </a:prstGeom>
          <a:solidFill>
            <a:srgbClr val="1A3160"/>
          </a:solidFill>
          <a:ln/>
        </p:spPr>
      </p:sp>
      <p:sp>
        <p:nvSpPr>
          <p:cNvPr id="4" name="Shape 2"/>
          <p:cNvSpPr/>
          <p:nvPr/>
        </p:nvSpPr>
        <p:spPr>
          <a:xfrm>
            <a:off x="7680960" y="-365760"/>
            <a:ext cx="1828800" cy="1828800"/>
          </a:xfrm>
          <a:prstGeom prst="ellipse">
            <a:avLst/>
          </a:prstGeom>
          <a:solidFill>
            <a:srgbClr val="12204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417320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300" kern="0" dirty="0">
                <a:solidFill>
                  <a:srgbClr val="C5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ALIBABA CLOUD AI HACKATHON PAKISTAN 2026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37360"/>
            <a:ext cx="7863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Alkhidmat</a:t>
            </a:r>
            <a:endParaRPr lang="en-US" sz="5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Relief Copilot</a:t>
            </a:r>
            <a:endParaRPr lang="en-US" sz="5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2044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rgbClr val="E8B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AI Desk for NGO Aid Operations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48640" y="4005072"/>
            <a:ext cx="3200400" cy="0"/>
          </a:xfrm>
          <a:prstGeom prst="line">
            <a:avLst/>
          </a:prstGeom>
          <a:noFill/>
          <a:ln w="15240">
            <a:solidFill>
              <a:srgbClr val="C5963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4160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Muhammad Atif  ·  Lahore, Pakistan  · 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AF0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C596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008"/>
            <a:ext cx="3474720" cy="5079492"/>
          </a:xfrm>
          <a:prstGeom prst="rect">
            <a:avLst/>
          </a:prstGeom>
          <a:solidFill>
            <a:srgbClr val="0B16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74320" y="109728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</a:t>
            </a:r>
            <a:endParaRPr lang="en-US" sz="3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CHALLENGE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274320" y="2487168"/>
            <a:ext cx="2560320" cy="0"/>
          </a:xfrm>
          <a:prstGeom prst="line">
            <a:avLst/>
          </a:prstGeom>
          <a:noFill/>
          <a:ln w="15240">
            <a:solidFill>
              <a:srgbClr val="C5963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74320" y="2633472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Aid operations remain</a:t>
            </a:r>
            <a:endParaRPr lang="en-US" sz="1300" dirty="0"/>
          </a:p>
          <a:p>
            <a:pPr algn="l" indent="0" marL="0">
              <a:buNone/>
            </a:pPr>
            <a:r>
              <a:rPr lang="en-US" sz="1300" i="1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fragmented and slow.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703320" y="347472"/>
            <a:ext cx="50749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D6DFF0"/>
            </a:solidFill>
            <a:prstDash val="solid"/>
          </a:ln>
          <a:effectLst>
            <a:outerShdw sx="100000" sy="100000" kx="0" ky="0" algn="bl" rotWithShape="0" blurRad="76200" dist="25400" dir="5400000">
              <a:srgbClr val="C0CCE0">
                <a:alpha val="1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858768" y="60350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4434840" y="502920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B16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Messy Intake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434840" y="877824"/>
            <a:ext cx="4160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Aid requests arrive as unstructured Urdu and English messages — incomplete, mis-categorised, and duplicated across channels.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703320" y="1920240"/>
            <a:ext cx="50749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D6DFF0"/>
            </a:solidFill>
            <a:prstDash val="solid"/>
          </a:ln>
          <a:effectLst>
            <a:outerShdw sx="100000" sy="100000" kx="0" ky="0" algn="bl" rotWithShape="0" blurRad="76200" dist="25400" dir="5400000">
              <a:srgbClr val="C0CCE0">
                <a:alpha val="1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858768" y="21762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4434840" y="2075688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B16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Slow Routing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434840" y="2450592"/>
            <a:ext cx="4160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triage delays response by hours. Critical medical cases share the same queue as routine food requests.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703320" y="3493008"/>
            <a:ext cx="50749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D6DFF0"/>
            </a:solidFill>
            <a:prstDash val="solid"/>
          </a:ln>
          <a:effectLst>
            <a:outerShdw sx="100000" sy="100000" kx="0" ky="0" algn="bl" rotWithShape="0" blurRad="76200" dist="25400" dir="5400000">
              <a:srgbClr val="C0CCE0">
                <a:alpha val="1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3858768" y="3749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♻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4434840" y="3648456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B16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Duplicate &amp; Fraud Risk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434840" y="4023360"/>
            <a:ext cx="4160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automated deduplication, the same family can claim resources multiple times, depleting limited relief stock.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C5963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29260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300" kern="0" dirty="0">
                <a:solidFill>
                  <a:srgbClr val="C5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58368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Platform.</a:t>
            </a:r>
            <a:endParaRPr lang="en-US" sz="40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Request to Resolved.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8046720" cy="822960"/>
          </a:xfrm>
          <a:prstGeom prst="roundRect">
            <a:avLst>
              <a:gd name="adj" fmla="val 6667"/>
            </a:avLst>
          </a:prstGeom>
          <a:solidFill>
            <a:srgbClr val="1A3160"/>
          </a:solidFill>
          <a:ln w="9525">
            <a:solidFill>
              <a:srgbClr val="C5963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121408"/>
            <a:ext cx="7772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i="1" dirty="0">
                <a:solidFill>
                  <a:srgbClr val="E8B7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"From free-text request to a verified, prioritised, resource-matched ticket — in under 60 seconds."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548640" y="3063240"/>
            <a:ext cx="2578608" cy="1691640"/>
          </a:xfrm>
          <a:prstGeom prst="roundRect">
            <a:avLst>
              <a:gd name="adj" fmla="val 4324"/>
            </a:avLst>
          </a:prstGeom>
          <a:solidFill>
            <a:srgbClr val="122040"/>
          </a:solidFill>
          <a:ln w="7620">
            <a:solidFill>
              <a:srgbClr val="1A316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31821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59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63931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Agentic Pipeline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4041648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specialised agents — not one chatbot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355848" y="3063240"/>
            <a:ext cx="2578608" cy="1691640"/>
          </a:xfrm>
          <a:prstGeom prst="roundRect">
            <a:avLst>
              <a:gd name="adj" fmla="val 4324"/>
            </a:avLst>
          </a:prstGeom>
          <a:solidFill>
            <a:srgbClr val="122040"/>
          </a:solidFill>
          <a:ln w="7620">
            <a:solidFill>
              <a:srgbClr val="1A316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538728" y="31821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59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3493008" y="363931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493008" y="4041648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Urdu &amp; English, live intake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163056" y="3063240"/>
            <a:ext cx="2578608" cy="1691640"/>
          </a:xfrm>
          <a:prstGeom prst="roundRect">
            <a:avLst>
              <a:gd name="adj" fmla="val 4324"/>
            </a:avLst>
          </a:prstGeom>
          <a:solidFill>
            <a:srgbClr val="122040"/>
          </a:solidFill>
          <a:ln w="7620">
            <a:solidFill>
              <a:srgbClr val="1A316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45936" y="31821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59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6300216" y="363931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Human-in-the-Loop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300216" y="4041648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 gate for critical &amp; high-risk cases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AF0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C5963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20116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300" kern="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0292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6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Six-Agent Pipeline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416052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7620">
            <a:solidFill>
              <a:srgbClr val="D6DFF0"/>
            </a:solidFill>
            <a:prstDash val="solid"/>
          </a:ln>
          <a:effectLst>
            <a:outerShdw sx="100000" sy="100000" kx="0" ky="0" algn="bl" rotWithShape="0" blurRad="63500" dist="25400" dir="5400000">
              <a:srgbClr val="C0CCE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11480" y="1234440"/>
            <a:ext cx="347472" cy="1097280"/>
          </a:xfrm>
          <a:prstGeom prst="roundRect">
            <a:avLst>
              <a:gd name="adj" fmla="val 18421"/>
            </a:avLst>
          </a:prstGeom>
          <a:solidFill>
            <a:srgbClr val="1E7F8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50392" y="135331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50392" y="1508760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B16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Intake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50392" y="1874520"/>
            <a:ext cx="3611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 detect, extract need, location, urgency &amp; contact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331720" y="2331720"/>
            <a:ext cx="0" cy="128016"/>
          </a:xfrm>
          <a:prstGeom prst="line">
            <a:avLst/>
          </a:prstGeom>
          <a:noFill/>
          <a:ln w="10160">
            <a:solidFill>
              <a:srgbClr val="3D5A8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2468880"/>
            <a:ext cx="416052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7620">
            <a:solidFill>
              <a:srgbClr val="D6DFF0"/>
            </a:solidFill>
            <a:prstDash val="solid"/>
          </a:ln>
          <a:effectLst>
            <a:outerShdw sx="100000" sy="100000" kx="0" ky="0" algn="bl" rotWithShape="0" blurRad="63500" dist="25400" dir="5400000">
              <a:srgbClr val="C0CCE0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11480" y="2468880"/>
            <a:ext cx="347472" cy="1097280"/>
          </a:xfrm>
          <a:prstGeom prst="roundRect">
            <a:avLst>
              <a:gd name="adj" fmla="val 18421"/>
            </a:avLst>
          </a:prstGeom>
          <a:solidFill>
            <a:srgbClr val="3D5A8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50392" y="25877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850392" y="2743200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B16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Triage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50392" y="3108960"/>
            <a:ext cx="3611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Classify: Food · Medical · Shelter · Blood · Education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331720" y="3566160"/>
            <a:ext cx="0" cy="128016"/>
          </a:xfrm>
          <a:prstGeom prst="line">
            <a:avLst/>
          </a:prstGeom>
          <a:noFill/>
          <a:ln w="10160">
            <a:solidFill>
              <a:srgbClr val="3D5A8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1480" y="3703320"/>
            <a:ext cx="416052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7620">
            <a:solidFill>
              <a:srgbClr val="D6DFF0"/>
            </a:solidFill>
            <a:prstDash val="solid"/>
          </a:ln>
          <a:effectLst>
            <a:outerShdw sx="100000" sy="100000" kx="0" ky="0" algn="bl" rotWithShape="0" blurRad="63500" dist="25400" dir="5400000">
              <a:srgbClr val="C0CCE0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11480" y="3703320"/>
            <a:ext cx="347472" cy="1097280"/>
          </a:xfrm>
          <a:prstGeom prst="roundRect">
            <a:avLst>
              <a:gd name="adj" fmla="val 18421"/>
            </a:avLst>
          </a:prstGeom>
          <a:solidFill>
            <a:srgbClr val="5B7FA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0392" y="382219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850392" y="3977640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B16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Knowledge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50392" y="4343400"/>
            <a:ext cx="3611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 retrieval via pgvector + keyword fallback (light RAG)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846320" y="1234440"/>
            <a:ext cx="416052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7620">
            <a:solidFill>
              <a:srgbClr val="D6DFF0"/>
            </a:solidFill>
            <a:prstDash val="solid"/>
          </a:ln>
          <a:effectLst>
            <a:outerShdw sx="100000" sy="100000" kx="0" ky="0" algn="bl" rotWithShape="0" blurRad="63500" dist="25400" dir="5400000">
              <a:srgbClr val="C0CCE0">
                <a:alpha val="1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846320" y="1234440"/>
            <a:ext cx="347472" cy="1097280"/>
          </a:xfrm>
          <a:prstGeom prst="roundRect">
            <a:avLst>
              <a:gd name="adj" fmla="val 18421"/>
            </a:avLst>
          </a:prstGeom>
          <a:solidFill>
            <a:srgbClr val="C0392B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285232" y="135331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5285232" y="1508760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B16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Integrity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5285232" y="1874520"/>
            <a:ext cx="3611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phone/CNIC/location; fraud heuristics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766560" y="2331720"/>
            <a:ext cx="0" cy="128016"/>
          </a:xfrm>
          <a:prstGeom prst="line">
            <a:avLst/>
          </a:prstGeom>
          <a:noFill/>
          <a:ln w="10160">
            <a:solidFill>
              <a:srgbClr val="3D5A8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46320" y="2468880"/>
            <a:ext cx="416052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7620">
            <a:solidFill>
              <a:srgbClr val="D6DFF0"/>
            </a:solidFill>
            <a:prstDash val="solid"/>
          </a:ln>
          <a:effectLst>
            <a:outerShdw sx="100000" sy="100000" kx="0" ky="0" algn="bl" rotWithShape="0" blurRad="63500" dist="25400" dir="5400000">
              <a:srgbClr val="C0CCE0">
                <a:alpha val="1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846320" y="2468880"/>
            <a:ext cx="347472" cy="1097280"/>
          </a:xfrm>
          <a:prstGeom prst="roundRect">
            <a:avLst>
              <a:gd name="adj" fmla="val 18421"/>
            </a:avLst>
          </a:prstGeom>
          <a:solidFill>
            <a:srgbClr val="1A7A4A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285232" y="25877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5285232" y="2743200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B16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Matcher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5285232" y="3108960"/>
            <a:ext cx="3611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to inventory: food packs, camps, blood banks, volunteers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766560" y="3566160"/>
            <a:ext cx="0" cy="128016"/>
          </a:xfrm>
          <a:prstGeom prst="line">
            <a:avLst/>
          </a:prstGeom>
          <a:noFill/>
          <a:ln w="10160">
            <a:solidFill>
              <a:srgbClr val="3D5A8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846320" y="3703320"/>
            <a:ext cx="416052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7620">
            <a:solidFill>
              <a:srgbClr val="D6DFF0"/>
            </a:solidFill>
            <a:prstDash val="solid"/>
          </a:ln>
          <a:effectLst>
            <a:outerShdw sx="100000" sy="100000" kx="0" ky="0" algn="bl" rotWithShape="0" blurRad="63500" dist="25400" dir="5400000">
              <a:srgbClr val="C0CCE0">
                <a:alpha val="15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846320" y="3703320"/>
            <a:ext cx="347472" cy="1097280"/>
          </a:xfrm>
          <a:prstGeom prst="roundRect">
            <a:avLst>
              <a:gd name="adj" fmla="val 18421"/>
            </a:avLst>
          </a:prstGeom>
          <a:solidFill>
            <a:srgbClr val="C5963A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5285232" y="382219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5285232" y="3977640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B16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Dispatch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5285232" y="4343400"/>
            <a:ext cx="3611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AKD ticket, assign volunteer, HITL gate if critical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645920" y="4645152"/>
            <a:ext cx="5486400" cy="384048"/>
          </a:xfrm>
          <a:prstGeom prst="roundRect">
            <a:avLst>
              <a:gd name="adj" fmla="val 11905"/>
            </a:avLst>
          </a:prstGeom>
          <a:solidFill>
            <a:srgbClr val="FFF3CD"/>
          </a:solidFill>
          <a:ln w="7620">
            <a:solidFill>
              <a:srgbClr val="C5963A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1783080" y="4681728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A5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HITL Supervisor Gate: Integrity flags critical or high-risk cases → hold pending approval before Dispatch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C5963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29260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300" kern="0" dirty="0">
                <a:solidFill>
                  <a:srgbClr val="C5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STACK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1792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Enterprise-Grade by Design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11480" y="1389888"/>
            <a:ext cx="4206240" cy="804672"/>
          </a:xfrm>
          <a:prstGeom prst="roundRect">
            <a:avLst>
              <a:gd name="adj" fmla="val 6818"/>
            </a:avLst>
          </a:prstGeom>
          <a:solidFill>
            <a:srgbClr val="122040"/>
          </a:solidFill>
          <a:ln w="6350">
            <a:solidFill>
              <a:srgbClr val="1A316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76072" y="148132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C5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/ LLM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576072" y="170992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Qwen via Alibaba DashScope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576072" y="1956816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Urdu + English reasoning &amp; embeddings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11480" y="2304288"/>
            <a:ext cx="4206240" cy="804672"/>
          </a:xfrm>
          <a:prstGeom prst="roundRect">
            <a:avLst>
              <a:gd name="adj" fmla="val 6818"/>
            </a:avLst>
          </a:prstGeom>
          <a:solidFill>
            <a:srgbClr val="122040"/>
          </a:solidFill>
          <a:ln w="6350">
            <a:solidFill>
              <a:srgbClr val="1A316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76072" y="239572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C5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576072" y="262432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LangGraph Multi-Agent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576072" y="2871216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Directed graph — not a linear chain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11480" y="3218688"/>
            <a:ext cx="4206240" cy="804672"/>
          </a:xfrm>
          <a:prstGeom prst="roundRect">
            <a:avLst>
              <a:gd name="adj" fmla="val 6818"/>
            </a:avLst>
          </a:prstGeom>
          <a:solidFill>
            <a:srgbClr val="122040"/>
          </a:solidFill>
          <a:ln w="6350">
            <a:solidFill>
              <a:srgbClr val="1A316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76072" y="331012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C5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576072" y="353872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pgvector + Keyword Fallback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576072" y="3785616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 retrieval, RAG-lite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11480" y="4133088"/>
            <a:ext cx="4206240" cy="804672"/>
          </a:xfrm>
          <a:prstGeom prst="roundRect">
            <a:avLst>
              <a:gd name="adj" fmla="val 6818"/>
            </a:avLst>
          </a:prstGeom>
          <a:solidFill>
            <a:srgbClr val="122040"/>
          </a:solidFill>
          <a:ln w="6350">
            <a:solidFill>
              <a:srgbClr val="1A316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76072" y="422452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C5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576072" y="445312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FastAPI + SSE Streaming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576072" y="4700016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agent-step events to the UI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73752" y="1389888"/>
            <a:ext cx="4206240" cy="804672"/>
          </a:xfrm>
          <a:prstGeom prst="roundRect">
            <a:avLst>
              <a:gd name="adj" fmla="val 6818"/>
            </a:avLst>
          </a:prstGeom>
          <a:solidFill>
            <a:srgbClr val="122040"/>
          </a:solidFill>
          <a:ln w="6350">
            <a:solidFill>
              <a:srgbClr val="1A316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038344" y="148132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C5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5038344" y="170992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Next.js 14 App Router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5038344" y="1956816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intake + Staff ops + Supervisor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73752" y="2304288"/>
            <a:ext cx="4206240" cy="804672"/>
          </a:xfrm>
          <a:prstGeom prst="roundRect">
            <a:avLst>
              <a:gd name="adj" fmla="val 6818"/>
            </a:avLst>
          </a:prstGeom>
          <a:solidFill>
            <a:srgbClr val="122040"/>
          </a:solidFill>
          <a:ln w="6350">
            <a:solidFill>
              <a:srgbClr val="1A316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038344" y="239572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C5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5038344" y="262432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JWT HS256 + bcrypt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5038344" y="2871216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Role-gated: requester | desk | supervisor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873752" y="3218688"/>
            <a:ext cx="4206240" cy="804672"/>
          </a:xfrm>
          <a:prstGeom prst="roundRect">
            <a:avLst>
              <a:gd name="adj" fmla="val 6818"/>
            </a:avLst>
          </a:prstGeom>
          <a:solidFill>
            <a:srgbClr val="122040"/>
          </a:solidFill>
          <a:ln w="6350">
            <a:solidFill>
              <a:srgbClr val="1A316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038344" y="331012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C5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5038344" y="353872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PostgreSQL + pgvector</a:t>
            </a:r>
            <a:endParaRPr lang="en-US" sz="1350" dirty="0"/>
          </a:p>
        </p:txBody>
      </p:sp>
      <p:sp>
        <p:nvSpPr>
          <p:cNvPr id="32" name="Text 30"/>
          <p:cNvSpPr txBox="1"/>
          <p:nvPr/>
        </p:nvSpPr>
        <p:spPr>
          <a:xfrm>
            <a:off x="5038344" y="3785616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Cases, checkpoints, vectors — Cloud SQL on GCP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873752" y="4133088"/>
            <a:ext cx="4206240" cy="804672"/>
          </a:xfrm>
          <a:prstGeom prst="roundRect">
            <a:avLst>
              <a:gd name="adj" fmla="val 6818"/>
            </a:avLst>
          </a:prstGeom>
          <a:solidFill>
            <a:srgbClr val="122040"/>
          </a:solidFill>
          <a:ln w="6350">
            <a:solidFill>
              <a:srgbClr val="1A316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038344" y="422452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C5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DEPLOY</a:t>
            </a:r>
            <a:endParaRPr lang="en-US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5038344" y="445312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GCP Cloud Run</a:t>
            </a:r>
            <a:endParaRPr lang="en-US" sz="1350" dirty="0"/>
          </a:p>
        </p:txBody>
      </p:sp>
      <p:sp>
        <p:nvSpPr>
          <p:cNvPr id="36" name="Text 34"/>
          <p:cNvSpPr txBox="1"/>
          <p:nvPr/>
        </p:nvSpPr>
        <p:spPr>
          <a:xfrm>
            <a:off x="5038344" y="4700016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Dockerised — live on *.a.run.app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AF0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C5963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20116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300" kern="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EXPERIENCE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02920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B16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Distinct Roles, One Coherent Platform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11480" y="1261872"/>
            <a:ext cx="2788920" cy="3584448"/>
          </a:xfrm>
          <a:prstGeom prst="roundRect">
            <a:avLst>
              <a:gd name="adj" fmla="val 2951"/>
            </a:avLst>
          </a:prstGeom>
          <a:solidFill>
            <a:srgbClr val="FFFFFF"/>
          </a:solidFill>
          <a:ln w="8890">
            <a:solidFill>
              <a:srgbClr val="D6DFF0"/>
            </a:solidFill>
            <a:prstDash val="solid"/>
          </a:ln>
          <a:effectLst>
            <a:outerShdw sx="100000" sy="100000" kx="0" ky="0" algn="bl" rotWithShape="0" blurRad="76200" dist="25400" dir="5400000">
              <a:srgbClr val="C0CCE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11480" y="1261872"/>
            <a:ext cx="2788920" cy="658368"/>
          </a:xfrm>
          <a:prstGeom prst="roundRect">
            <a:avLst>
              <a:gd name="adj" fmla="val 12500"/>
            </a:avLst>
          </a:prstGeom>
          <a:solidFill>
            <a:srgbClr val="1E7F8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76072" y="1353312"/>
            <a:ext cx="24871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Citizen / Requester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576072" y="2084832"/>
            <a:ext cx="24871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Submit request in Urdu or English — no account required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576072" y="2953512"/>
            <a:ext cx="24871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Receive an AKD ticket number immediately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576072" y="3822192"/>
            <a:ext cx="24871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Return later via /status with AKD number + phone to track progress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355848" y="1261872"/>
            <a:ext cx="2788920" cy="3584448"/>
          </a:xfrm>
          <a:prstGeom prst="roundRect">
            <a:avLst>
              <a:gd name="adj" fmla="val 2951"/>
            </a:avLst>
          </a:prstGeom>
          <a:solidFill>
            <a:srgbClr val="FFFFFF"/>
          </a:solidFill>
          <a:ln w="8890">
            <a:solidFill>
              <a:srgbClr val="D6DFF0"/>
            </a:solidFill>
            <a:prstDash val="solid"/>
          </a:ln>
          <a:effectLst>
            <a:outerShdw sx="100000" sy="100000" kx="0" ky="0" algn="bl" rotWithShape="0" blurRad="76200" dist="25400" dir="5400000">
              <a:srgbClr val="C0CCE0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355848" y="1261872"/>
            <a:ext cx="2788920" cy="658368"/>
          </a:xfrm>
          <a:prstGeom prst="roundRect">
            <a:avLst>
              <a:gd name="adj" fmla="val 12500"/>
            </a:avLst>
          </a:prstGeom>
          <a:solidFill>
            <a:srgbClr val="3D5A8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520440" y="1353312"/>
            <a:ext cx="24871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Desk Operator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3520440" y="2084832"/>
            <a:ext cx="24871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View live ticket queue with agent trace and resource match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3520440" y="2953512"/>
            <a:ext cx="24871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Monitor pipeline — each agent lights up as it runs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3520440" y="3822192"/>
            <a:ext cx="24871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Export case PDF for field teams or audit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300216" y="1261872"/>
            <a:ext cx="2788920" cy="3584448"/>
          </a:xfrm>
          <a:prstGeom prst="roundRect">
            <a:avLst>
              <a:gd name="adj" fmla="val 2951"/>
            </a:avLst>
          </a:prstGeom>
          <a:solidFill>
            <a:srgbClr val="FFFFFF"/>
          </a:solidFill>
          <a:ln w="8890">
            <a:solidFill>
              <a:srgbClr val="D6DFF0"/>
            </a:solidFill>
            <a:prstDash val="solid"/>
          </a:ln>
          <a:effectLst>
            <a:outerShdw sx="100000" sy="100000" kx="0" ky="0" algn="bl" rotWithShape="0" blurRad="76200" dist="25400" dir="5400000">
              <a:srgbClr val="C0CCE0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300216" y="1261872"/>
            <a:ext cx="2788920" cy="658368"/>
          </a:xfrm>
          <a:prstGeom prst="roundRect">
            <a:avLst>
              <a:gd name="adj" fmla="val 12500"/>
            </a:avLst>
          </a:prstGeom>
          <a:solidFill>
            <a:srgbClr val="C5963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64808" y="1353312"/>
            <a:ext cx="24871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Supervisor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6464808" y="2084832"/>
            <a:ext cx="24871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Receive escalated cases flagged by Integrity agent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464808" y="2953512"/>
            <a:ext cx="24871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Approve or reject with one click — resumes the pipeline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464808" y="3822192"/>
            <a:ext cx="24871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Review audit log: who approved what, and when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C5963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29260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300" kern="0" dirty="0">
                <a:solidFill>
                  <a:srgbClr val="C5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DEMONSTRATION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1792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Scenarios, Three Minutes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11480" y="1389888"/>
            <a:ext cx="8321040" cy="1078992"/>
          </a:xfrm>
          <a:prstGeom prst="roundRect">
            <a:avLst>
              <a:gd name="adj" fmla="val 5932"/>
            </a:avLst>
          </a:prstGeom>
          <a:solidFill>
            <a:srgbClr val="122040"/>
          </a:solidFill>
          <a:ln w="6350">
            <a:solidFill>
              <a:srgbClr val="1A316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389888"/>
            <a:ext cx="347472" cy="1078992"/>
          </a:xfrm>
          <a:prstGeom prst="roundRect">
            <a:avLst>
              <a:gd name="adj" fmla="val 18421"/>
            </a:avLst>
          </a:prstGeom>
          <a:solidFill>
            <a:srgbClr val="1A7A4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146304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A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1664208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Standard Request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480560" y="1481328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"Flood ke baad khane ki zaroorat hai, Township Lahore, family of 5."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4480560" y="1892808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A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Triage → Food · Match: Alkhidmat Kitchen stock 120 · AKD ticket issued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1480" y="2596896"/>
            <a:ext cx="8321040" cy="1078992"/>
          </a:xfrm>
          <a:prstGeom prst="roundRect">
            <a:avLst>
              <a:gd name="adj" fmla="val 5932"/>
            </a:avLst>
          </a:prstGeom>
          <a:solidFill>
            <a:srgbClr val="122040"/>
          </a:solidFill>
          <a:ln w="6350">
            <a:solidFill>
              <a:srgbClr val="1A316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1480" y="2596896"/>
            <a:ext cx="347472" cy="1078992"/>
          </a:xfrm>
          <a:prstGeom prst="roundRect">
            <a:avLst>
              <a:gd name="adj" fmla="val 18421"/>
            </a:avLst>
          </a:prstGeom>
          <a:solidFill>
            <a:srgbClr val="3D5A8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68680" y="2670048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2871216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Duplicate Detection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480560" y="2688336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Same phone number submits a second request within minutes.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480560" y="3099816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A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Integrity flags duplicate → HITL pending · AKD still issued for transparency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11480" y="3803904"/>
            <a:ext cx="8321040" cy="1078992"/>
          </a:xfrm>
          <a:prstGeom prst="roundRect">
            <a:avLst>
              <a:gd name="adj" fmla="val 5932"/>
            </a:avLst>
          </a:prstGeom>
          <a:solidFill>
            <a:srgbClr val="122040"/>
          </a:solidFill>
          <a:ln w="6350">
            <a:solidFill>
              <a:srgbClr val="1A316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1480" y="3803904"/>
            <a:ext cx="347472" cy="1078992"/>
          </a:xfrm>
          <a:prstGeom prst="roundRect">
            <a:avLst>
              <a:gd name="adj" fmla="val 18421"/>
            </a:avLst>
          </a:prstGeom>
          <a:solidFill>
            <a:srgbClr val="C0392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68680" y="3877056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868680" y="4078224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Critical Medical Escalation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4480560" y="3895344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"Chest pain, need ambulance urgently, DHA Lahore."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4480560" y="4306824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A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Priority = Critical · Integrity escalates → Supervisor approves → Dispatch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AF0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C5963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20116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300" kern="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&amp; METRICS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02920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16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Measurable Relief Operations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11480" y="1298448"/>
            <a:ext cx="2029968" cy="150876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8890">
            <a:solidFill>
              <a:srgbClr val="D6DFF0"/>
            </a:solidFill>
            <a:prstDash val="solid"/>
          </a:ln>
          <a:effectLst>
            <a:outerShdw sx="100000" sy="100000" kx="0" ky="0" algn="bl" rotWithShape="0" blurRad="63500" dist="25400" dir="5400000">
              <a:srgbClr val="C0CCE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11480" y="1298448"/>
            <a:ext cx="2029968" cy="109728"/>
          </a:xfrm>
          <a:prstGeom prst="roundRect">
            <a:avLst>
              <a:gd name="adj" fmla="val 75000"/>
            </a:avLst>
          </a:prstGeom>
          <a:solidFill>
            <a:srgbClr val="1E7F8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1508760"/>
            <a:ext cx="184708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B16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60s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2130552"/>
            <a:ext cx="18470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to verified ticket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633472" y="1298448"/>
            <a:ext cx="2029968" cy="150876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8890">
            <a:solidFill>
              <a:srgbClr val="D6DFF0"/>
            </a:solidFill>
            <a:prstDash val="solid"/>
          </a:ln>
          <a:effectLst>
            <a:outerShdw sx="100000" sy="100000" kx="0" ky="0" algn="bl" rotWithShape="0" blurRad="63500" dist="25400" dir="5400000">
              <a:srgbClr val="C0CCE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633472" y="1298448"/>
            <a:ext cx="2029968" cy="109728"/>
          </a:xfrm>
          <a:prstGeom prst="roundRect">
            <a:avLst>
              <a:gd name="adj" fmla="val 75000"/>
            </a:avLst>
          </a:prstGeom>
          <a:solidFill>
            <a:srgbClr val="3D5A8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724912" y="1508760"/>
            <a:ext cx="184708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B16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2724912" y="2130552"/>
            <a:ext cx="18470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Specialised agents in pipeline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855464" y="1298448"/>
            <a:ext cx="2029968" cy="150876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8890">
            <a:solidFill>
              <a:srgbClr val="D6DFF0"/>
            </a:solidFill>
            <a:prstDash val="solid"/>
          </a:ln>
          <a:effectLst>
            <a:outerShdw sx="100000" sy="100000" kx="0" ky="0" algn="bl" rotWithShape="0" blurRad="63500" dist="25400" dir="5400000">
              <a:srgbClr val="C0CCE0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855464" y="1298448"/>
            <a:ext cx="2029968" cy="109728"/>
          </a:xfrm>
          <a:prstGeom prst="roundRect">
            <a:avLst>
              <a:gd name="adj" fmla="val 75000"/>
            </a:avLst>
          </a:prstGeom>
          <a:solidFill>
            <a:srgbClr val="1A7A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946904" y="1508760"/>
            <a:ext cx="184708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B16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16" name="Text 14"/>
          <p:cNvSpPr txBox="1"/>
          <p:nvPr/>
        </p:nvSpPr>
        <p:spPr>
          <a:xfrm>
            <a:off x="4946904" y="2130552"/>
            <a:ext cx="18470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receive an AKD reference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077456" y="1298448"/>
            <a:ext cx="2029968" cy="150876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8890">
            <a:solidFill>
              <a:srgbClr val="D6DFF0"/>
            </a:solidFill>
            <a:prstDash val="solid"/>
          </a:ln>
          <a:effectLst>
            <a:outerShdw sx="100000" sy="100000" kx="0" ky="0" algn="bl" rotWithShape="0" blurRad="63500" dist="25400" dir="5400000">
              <a:srgbClr val="C0CCE0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077456" y="1298448"/>
            <a:ext cx="2029968" cy="109728"/>
          </a:xfrm>
          <a:prstGeom prst="roundRect">
            <a:avLst>
              <a:gd name="adj" fmla="val 75000"/>
            </a:avLst>
          </a:prstGeom>
          <a:solidFill>
            <a:srgbClr val="C5963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168896" y="1508760"/>
            <a:ext cx="184708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B16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HITL</a:t>
            </a:r>
            <a:endParaRPr lang="en-US" sz="3400" dirty="0"/>
          </a:p>
        </p:txBody>
      </p:sp>
      <p:sp>
        <p:nvSpPr>
          <p:cNvPr id="20" name="Text 18"/>
          <p:cNvSpPr txBox="1"/>
          <p:nvPr/>
        </p:nvSpPr>
        <p:spPr>
          <a:xfrm>
            <a:off x="7168896" y="2130552"/>
            <a:ext cx="18470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Human-gated critical approvals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30175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B16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Operations Dashboard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3474720"/>
            <a:ext cx="8046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Cases processed today  ·  Average time-to-ticket  ·  Escalation rate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3968496"/>
            <a:ext cx="8046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Per-case agent trace with node timings  ·  Audit log (approver + timestamp)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4462272"/>
            <a:ext cx="8046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PDF case export for field teams and compliance reporting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C5963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29260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300" kern="0" dirty="0">
                <a:solidFill>
                  <a:srgbClr val="C5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ARCHITECTURE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1792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Alibaba Cloud × GCP — Production Ready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8321040" cy="658368"/>
          </a:xfrm>
          <a:prstGeom prst="roundRect">
            <a:avLst>
              <a:gd name="adj" fmla="val 8333"/>
            </a:avLst>
          </a:prstGeom>
          <a:solidFill>
            <a:srgbClr val="122040"/>
          </a:solidFill>
          <a:ln w="6350">
            <a:solidFill>
              <a:srgbClr val="1A316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325880"/>
            <a:ext cx="292608" cy="658368"/>
          </a:xfrm>
          <a:prstGeom prst="roundRect">
            <a:avLst>
              <a:gd name="adj" fmla="val 18750"/>
            </a:avLst>
          </a:prstGeom>
          <a:solidFill>
            <a:srgbClr val="FF6A0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04672" y="1399032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Alibaba Cloud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163677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DashScope / Qwen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2907792" y="1508760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inference + bilingual embeddings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11480" y="2020824"/>
            <a:ext cx="8321040" cy="658368"/>
          </a:xfrm>
          <a:prstGeom prst="roundRect">
            <a:avLst>
              <a:gd name="adj" fmla="val 8333"/>
            </a:avLst>
          </a:prstGeom>
          <a:solidFill>
            <a:srgbClr val="122040"/>
          </a:solidFill>
          <a:ln w="6350">
            <a:solidFill>
              <a:srgbClr val="1A316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2020824"/>
            <a:ext cx="292608" cy="658368"/>
          </a:xfrm>
          <a:prstGeom prst="roundRect">
            <a:avLst>
              <a:gd name="adj" fmla="val 18750"/>
            </a:avLst>
          </a:prstGeom>
          <a:solidFill>
            <a:srgbClr val="FF6A0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04672" y="2093976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Alibaba Cloud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804672" y="233172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Studio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2907792" y="2203704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 model selection &amp; API endpoint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2715768"/>
            <a:ext cx="8321040" cy="658368"/>
          </a:xfrm>
          <a:prstGeom prst="roundRect">
            <a:avLst>
              <a:gd name="adj" fmla="val 8333"/>
            </a:avLst>
          </a:prstGeom>
          <a:solidFill>
            <a:srgbClr val="122040"/>
          </a:solidFill>
          <a:ln w="6350">
            <a:solidFill>
              <a:srgbClr val="1A316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2715768"/>
            <a:ext cx="292608" cy="658368"/>
          </a:xfrm>
          <a:prstGeom prst="roundRect">
            <a:avLst>
              <a:gd name="adj" fmla="val 18750"/>
            </a:avLst>
          </a:prstGeom>
          <a:solidFill>
            <a:srgbClr val="4285F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04672" y="278892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804672" y="3026664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Cloud Run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2907792" y="2898648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Containerised API + Next.js frontend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11480" y="3410712"/>
            <a:ext cx="8321040" cy="658368"/>
          </a:xfrm>
          <a:prstGeom prst="roundRect">
            <a:avLst>
              <a:gd name="adj" fmla="val 8333"/>
            </a:avLst>
          </a:prstGeom>
          <a:solidFill>
            <a:srgbClr val="122040"/>
          </a:solidFill>
          <a:ln w="6350">
            <a:solidFill>
              <a:srgbClr val="1A316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1480" y="3410712"/>
            <a:ext cx="292608" cy="658368"/>
          </a:xfrm>
          <a:prstGeom prst="roundRect">
            <a:avLst>
              <a:gd name="adj" fmla="val 18750"/>
            </a:avLst>
          </a:prstGeom>
          <a:solidFill>
            <a:srgbClr val="4285F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04672" y="3483864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804672" y="372160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Cloud SQL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2907792" y="3593592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 + pgvector for cases &amp; vectors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11480" y="4105656"/>
            <a:ext cx="8321040" cy="658368"/>
          </a:xfrm>
          <a:prstGeom prst="roundRect">
            <a:avLst>
              <a:gd name="adj" fmla="val 8333"/>
            </a:avLst>
          </a:prstGeom>
          <a:solidFill>
            <a:srgbClr val="122040"/>
          </a:solidFill>
          <a:ln w="6350">
            <a:solidFill>
              <a:srgbClr val="1A316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1480" y="4105656"/>
            <a:ext cx="292608" cy="658368"/>
          </a:xfrm>
          <a:prstGeom prst="roundRect">
            <a:avLst>
              <a:gd name="adj" fmla="val 18750"/>
            </a:avLst>
          </a:prstGeom>
          <a:solidFill>
            <a:srgbClr val="34A853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04672" y="417880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804672" y="441655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Secret Manager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2907792" y="4288536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DashScope key + JWT secret vault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11480" y="4617720"/>
            <a:ext cx="8321040" cy="347472"/>
          </a:xfrm>
          <a:prstGeom prst="roundRect">
            <a:avLst>
              <a:gd name="adj" fmla="val 13158"/>
            </a:avLst>
          </a:prstGeom>
          <a:solidFill>
            <a:srgbClr val="1A3160"/>
          </a:solidFill>
          <a:ln w="7620">
            <a:solidFill>
              <a:srgbClr val="C5963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94360" y="4663440"/>
            <a:ext cx="8001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B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Live:  relief-web-4idrhaffca-el.a.run.app  ·  relief-api-4idrhaffca-el.a.run.app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C5963A"/>
          </a:solidFill>
          <a:ln/>
        </p:spPr>
      </p:sp>
      <p:sp>
        <p:nvSpPr>
          <p:cNvPr id="3" name="Shape 1"/>
          <p:cNvSpPr/>
          <p:nvPr/>
        </p:nvSpPr>
        <p:spPr>
          <a:xfrm>
            <a:off x="-1097280" y="2743200"/>
            <a:ext cx="4114800" cy="4114800"/>
          </a:xfrm>
          <a:prstGeom prst="ellipse">
            <a:avLst/>
          </a:prstGeom>
          <a:solidFill>
            <a:srgbClr val="1A3160"/>
          </a:solidFill>
          <a:ln/>
        </p:spPr>
      </p:sp>
      <p:sp>
        <p:nvSpPr>
          <p:cNvPr id="4" name="Shape 2"/>
          <p:cNvSpPr/>
          <p:nvPr/>
        </p:nvSpPr>
        <p:spPr>
          <a:xfrm>
            <a:off x="7132320" y="-731520"/>
            <a:ext cx="2743200" cy="2743200"/>
          </a:xfrm>
          <a:prstGeom prst="ellipse">
            <a:avLst/>
          </a:prstGeom>
          <a:solidFill>
            <a:srgbClr val="12204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640080"/>
            <a:ext cx="8229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TO WIN.</a:t>
            </a:r>
            <a:endParaRPr lang="en-US" sz="5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TO SERVE.</a:t>
            </a:r>
            <a:endParaRPr lang="en-US" sz="5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0428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E8B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Alkhidmat Relief Copilot — Multi-Agent Aid Desk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788920"/>
            <a:ext cx="4114800" cy="0"/>
          </a:xfrm>
          <a:prstGeom prst="line">
            <a:avLst/>
          </a:prstGeom>
          <a:noFill/>
          <a:ln w="15240">
            <a:solidFill>
              <a:srgbClr val="C5963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99923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5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PLATFORM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2286000" y="299923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relief-web-4idrhaffca-el.a.run.app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6616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5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2286000" y="356616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github.com/Atif1299/alkhidmat-relief-copilot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13308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5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BUILDER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2286000" y="4133088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Muhammad Atif  ·  ranaatif1299@gmail.com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46634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150" kern="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· Social Impact · Alibaba Cloud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2026-09-03T16:10:21Z</dcterms:created>
  <dcterms:modified xsi:type="dcterms:W3CDTF">2026-09-03T16:10:21Z</dcterms:modified>
</cp:coreProperties>
</file>