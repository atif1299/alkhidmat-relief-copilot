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144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78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title slide. Introduce project name, event,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problem: aid requests are messy, routing is slow, duplicates waste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Solution overview: agentic, bilingual, HITL — turns requests to tickets in &lt;60s.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agents: Intake → Triage → Knowledge → Integrity → Matcher → Dispatch. HITL gate on critical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Stack: Qwen/DashScope, LangGraph, FastAPI, Next.js 14, PostgreSQL/pgvector, GCP Cloud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roles: Citizen (anonymous), Desk Operator, Supervisor. Each has a clear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Demo: normal food request, duplicate phone, critical medical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Impact: sub-60s ticketing, 100% AKD reference, live dashboard,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Cloud: Alibaba DashScope for Qwen LLM, GCP Cloud Run + Cloud SQL live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Closing: tagline, live URL, GitHub, contact. Leave on screen after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ranaatif1299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buttabdul.ahad029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</a:t>
            </a:r>
            <a:endParaRPr lang="en-US" sz="95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Alkhidmat</a:t>
            </a:r>
            <a:endParaRPr lang="en-US" sz="52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Relief Copilot</a:t>
            </a:r>
            <a:endParaRPr lang="en-US" sz="520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Desk for NGO Aid Operations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320040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Atif · Abdul Ahad · Lahore, Pakistan  ·  2026</a:t>
            </a:r>
            <a:endParaRPr lang="en-US" sz="12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28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28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28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28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3474720" cy="5079492"/>
          </a:xfrm>
          <a:prstGeom prst="rect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74320" y="1097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2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274320" y="2487168"/>
            <a:ext cx="256032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74320" y="2633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operations remain</a:t>
            </a:r>
            <a:endParaRPr lang="en-US" sz="1300"/>
          </a:p>
          <a:p>
            <a:pPr marL="0" indent="0" algn="l">
              <a:buNone/>
            </a:pPr>
            <a:r>
              <a:rPr lang="en-US" sz="130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slow.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703320" y="34747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858768" y="603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4434840" y="502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Intake</a:t>
            </a:r>
            <a:endParaRPr lang="en-US" sz="1500"/>
          </a:p>
        </p:txBody>
      </p:sp>
      <p:sp>
        <p:nvSpPr>
          <p:cNvPr id="10" name="Text 8"/>
          <p:cNvSpPr txBox="1"/>
          <p:nvPr/>
        </p:nvSpPr>
        <p:spPr>
          <a:xfrm>
            <a:off x="4434840" y="87782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requests arrive as unstructured Urdu and English messages — incomplete, mis-categorised, and duplicated across channels.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58768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/>
          </a:p>
        </p:txBody>
      </p:sp>
      <p:sp>
        <p:nvSpPr>
          <p:cNvPr id="13" name="Text 11"/>
          <p:cNvSpPr txBox="1"/>
          <p:nvPr/>
        </p:nvSpPr>
        <p:spPr>
          <a:xfrm>
            <a:off x="4434840" y="2075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Routing</a:t>
            </a:r>
            <a:endParaRPr lang="en-US" sz="1500"/>
          </a:p>
        </p:txBody>
      </p:sp>
      <p:sp>
        <p:nvSpPr>
          <p:cNvPr id="14" name="Text 12"/>
          <p:cNvSpPr txBox="1"/>
          <p:nvPr/>
        </p:nvSpPr>
        <p:spPr>
          <a:xfrm>
            <a:off x="4434840" y="245059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delays response by hours. Critical medical cases share the same queue as routine food requests.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3703320" y="349300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85876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200"/>
          </a:p>
        </p:txBody>
      </p:sp>
      <p:sp>
        <p:nvSpPr>
          <p:cNvPr id="17" name="Text 15"/>
          <p:cNvSpPr txBox="1"/>
          <p:nvPr/>
        </p:nvSpPr>
        <p:spPr>
          <a:xfrm>
            <a:off x="4434840" y="36484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&amp; Fraud Risk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4434840" y="40233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deduplication, the same family can claim resources multiple times, depleting limited relief stock.</a:t>
            </a:r>
            <a:endParaRPr lang="en-US" sz="115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1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1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1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1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1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1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1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1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10"/>
                            </p:stCondLst>
                            <p:childTnLst>
                              <p:par>
                                <p:cTn id="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10"/>
                            </p:stCondLst>
                            <p:childTnLst>
                              <p:par>
                                <p:cTn id="8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40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to Resolved.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1A3160"/>
          </a:solidFill>
          <a:ln w="9525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>
                <a:solidFill>
                  <a:srgbClr val="E8B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free-text request to a verified, prioritised, resource-matched ticket — in under 60 seconds."</a:t>
            </a:r>
            <a:endParaRPr lang="en-US" sz="155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9" name="Text 7"/>
          <p:cNvSpPr txBox="1"/>
          <p:nvPr/>
        </p:nvSpPr>
        <p:spPr>
          <a:xfrm>
            <a:off x="68580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Pipeline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685800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specialised agents — not one chatbot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355848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38728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3" name="Text 11"/>
          <p:cNvSpPr txBox="1"/>
          <p:nvPr/>
        </p:nvSpPr>
        <p:spPr>
          <a:xfrm>
            <a:off x="3493008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3493008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&amp; English, live intake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163056" y="3063240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122040"/>
          </a:solidFill>
          <a:ln w="762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45936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C5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17" name="Text 15"/>
          <p:cNvSpPr txBox="1"/>
          <p:nvPr/>
        </p:nvSpPr>
        <p:spPr>
          <a:xfrm>
            <a:off x="6300216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6300216" y="4041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gate for critical &amp; high-risk cases</a:t>
            </a:r>
            <a:endParaRPr lang="en-US" sz="115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1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1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1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1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1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1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1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1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1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1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1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1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10"/>
                            </p:stCondLst>
                            <p:childTnLst>
                              <p:par>
                                <p:cTn id="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1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10"/>
                            </p:stCondLst>
                            <p:childTnLst>
                              <p:par>
                                <p:cTn id="8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Six-Agent Pipeline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039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/>
          </a:p>
        </p:txBody>
      </p:sp>
      <p:sp>
        <p:nvSpPr>
          <p:cNvPr id="8" name="Text 6"/>
          <p:cNvSpPr txBox="1"/>
          <p:nvPr/>
        </p:nvSpPr>
        <p:spPr>
          <a:xfrm>
            <a:off x="850392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850392" y="1874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detect, extract need, location, urgency &amp; contact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331720" y="233172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0392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/>
          </a:p>
        </p:txBody>
      </p:sp>
      <p:sp>
        <p:nvSpPr>
          <p:cNvPr id="14" name="Text 12"/>
          <p:cNvSpPr txBox="1"/>
          <p:nvPr/>
        </p:nvSpPr>
        <p:spPr>
          <a:xfrm>
            <a:off x="850392" y="27432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850392" y="3108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Food · Medical · Shelter · Blood · Education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331720" y="356616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5B7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50392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/>
          </a:p>
        </p:txBody>
      </p:sp>
      <p:sp>
        <p:nvSpPr>
          <p:cNvPr id="20" name="Text 18"/>
          <p:cNvSpPr txBox="1"/>
          <p:nvPr/>
        </p:nvSpPr>
        <p:spPr>
          <a:xfrm>
            <a:off x="850392" y="3977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850392" y="4343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retrieval via pgvector + keyword fallback (light RAG)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23444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285232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/>
          </a:p>
        </p:txBody>
      </p:sp>
      <p:sp>
        <p:nvSpPr>
          <p:cNvPr id="25" name="Text 23"/>
          <p:cNvSpPr txBox="1"/>
          <p:nvPr/>
        </p:nvSpPr>
        <p:spPr>
          <a:xfrm>
            <a:off x="5285232" y="15087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500"/>
          </a:p>
        </p:txBody>
      </p:sp>
      <p:sp>
        <p:nvSpPr>
          <p:cNvPr id="26" name="Text 24"/>
          <p:cNvSpPr txBox="1"/>
          <p:nvPr/>
        </p:nvSpPr>
        <p:spPr>
          <a:xfrm>
            <a:off x="5285232" y="18745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phone/CNIC/location; fraud heuristics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6766560" y="233172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46888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285232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/>
          </a:p>
        </p:txBody>
      </p:sp>
      <p:sp>
        <p:nvSpPr>
          <p:cNvPr id="31" name="Text 29"/>
          <p:cNvSpPr txBox="1"/>
          <p:nvPr/>
        </p:nvSpPr>
        <p:spPr>
          <a:xfrm>
            <a:off x="5285232" y="27432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Matcher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5285232" y="31089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inventory: food packs, camps, blood banks, volunteers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0" cy="128016"/>
          </a:xfrm>
          <a:prstGeom prst="line">
            <a:avLst/>
          </a:prstGeom>
          <a:noFill/>
          <a:ln w="1016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3703320"/>
            <a:ext cx="41605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762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703320"/>
            <a:ext cx="347472" cy="1097280"/>
          </a:xfrm>
          <a:prstGeom prst="roundRect">
            <a:avLst>
              <a:gd name="adj" fmla="val 18421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285232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/>
          </a:p>
        </p:txBody>
      </p:sp>
      <p:sp>
        <p:nvSpPr>
          <p:cNvPr id="37" name="Text 35"/>
          <p:cNvSpPr txBox="1"/>
          <p:nvPr/>
        </p:nvSpPr>
        <p:spPr>
          <a:xfrm>
            <a:off x="5285232" y="3977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500"/>
          </a:p>
        </p:txBody>
      </p:sp>
      <p:sp>
        <p:nvSpPr>
          <p:cNvPr id="38" name="Text 36"/>
          <p:cNvSpPr txBox="1"/>
          <p:nvPr/>
        </p:nvSpPr>
        <p:spPr>
          <a:xfrm>
            <a:off x="5285232" y="4343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AKD ticket, assign volunteer, HITL gate if critical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1645920" y="4645152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 w="762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783080" y="46817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7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HITL Supervisor Gate: Integrity flags critical or high-risk cases → hold pending approval before Dispatch</a:t>
            </a:r>
            <a:endParaRPr lang="en-US" sz="1050"/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3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3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0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00"/>
                            </p:stCondLst>
                            <p:childTnLst>
                              <p:par>
                                <p:cTn id="1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1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100"/>
                            </p:stCondLst>
                            <p:childTnLst>
                              <p:par>
                                <p:cTn id="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1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1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3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100"/>
                            </p:stCondLst>
                            <p:childTnLst>
                              <p:par>
                                <p:cTn id="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1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1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3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100"/>
                            </p:stCondLst>
                            <p:childTnLst>
                              <p:par>
                                <p:cTn id="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1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10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3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100"/>
                            </p:stCondLst>
                            <p:childTnLst>
                              <p:par>
                                <p:cTn id="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7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100"/>
                            </p:stCondLst>
                            <p:childTnLst>
                              <p:par>
                                <p:cTn id="1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1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3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100"/>
                            </p:stCondLst>
                            <p:childTnLst>
                              <p:par>
                                <p:cTn id="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2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by Design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7607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50"/>
          </a:p>
        </p:txBody>
      </p:sp>
      <p:sp>
        <p:nvSpPr>
          <p:cNvPr id="7" name="Text 5"/>
          <p:cNvSpPr txBox="1"/>
          <p:nvPr/>
        </p:nvSpPr>
        <p:spPr>
          <a:xfrm>
            <a:off x="576072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via Alibaba DashScope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576072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+ English reasoning &amp; embeddings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76072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576072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Multi-Agent</a:t>
            </a:r>
            <a:endParaRPr lang="en-US" sz="1350"/>
          </a:p>
        </p:txBody>
      </p:sp>
      <p:sp>
        <p:nvSpPr>
          <p:cNvPr id="12" name="Text 10"/>
          <p:cNvSpPr txBox="1"/>
          <p:nvPr/>
        </p:nvSpPr>
        <p:spPr>
          <a:xfrm>
            <a:off x="576072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— not a linear chain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76072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850"/>
          </a:p>
        </p:txBody>
      </p:sp>
      <p:sp>
        <p:nvSpPr>
          <p:cNvPr id="15" name="Text 13"/>
          <p:cNvSpPr txBox="1"/>
          <p:nvPr/>
        </p:nvSpPr>
        <p:spPr>
          <a:xfrm>
            <a:off x="576072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 + Keyword Fallback</a:t>
            </a:r>
            <a:endParaRPr lang="en-US" sz="1350"/>
          </a:p>
        </p:txBody>
      </p:sp>
      <p:sp>
        <p:nvSpPr>
          <p:cNvPr id="16" name="Text 14"/>
          <p:cNvSpPr txBox="1"/>
          <p:nvPr/>
        </p:nvSpPr>
        <p:spPr>
          <a:xfrm>
            <a:off x="576072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retrieval, RAG-lite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11480" y="41330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76072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/>
          </a:p>
        </p:txBody>
      </p:sp>
      <p:sp>
        <p:nvSpPr>
          <p:cNvPr id="19" name="Text 17"/>
          <p:cNvSpPr txBox="1"/>
          <p:nvPr/>
        </p:nvSpPr>
        <p:spPr>
          <a:xfrm>
            <a:off x="576072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SSE Streaming</a:t>
            </a:r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576072" y="4700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agent-step events to the UI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873752" y="13898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38344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5038344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14 App Router</a:t>
            </a:r>
            <a:endParaRPr lang="en-US" sz="1350"/>
          </a:p>
        </p:txBody>
      </p:sp>
      <p:sp>
        <p:nvSpPr>
          <p:cNvPr id="24" name="Text 22"/>
          <p:cNvSpPr txBox="1"/>
          <p:nvPr/>
        </p:nvSpPr>
        <p:spPr>
          <a:xfrm>
            <a:off x="5038344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intake + Staff ops + Supervisor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73752" y="23042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38344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/>
          </a:p>
        </p:txBody>
      </p:sp>
      <p:sp>
        <p:nvSpPr>
          <p:cNvPr id="27" name="Text 25"/>
          <p:cNvSpPr txBox="1"/>
          <p:nvPr/>
        </p:nvSpPr>
        <p:spPr>
          <a:xfrm>
            <a:off x="5038344" y="2624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HS256 + bcrypt</a:t>
            </a:r>
            <a:endParaRPr lang="en-US" sz="1350"/>
          </a:p>
        </p:txBody>
      </p:sp>
      <p:sp>
        <p:nvSpPr>
          <p:cNvPr id="28" name="Text 26"/>
          <p:cNvSpPr txBox="1"/>
          <p:nvPr/>
        </p:nvSpPr>
        <p:spPr>
          <a:xfrm>
            <a:off x="5038344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Role-gated: requester | desk | supervisor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873752" y="32186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03834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5038344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+ pgvector</a:t>
            </a:r>
            <a:endParaRPr lang="en-US" sz="1350"/>
          </a:p>
        </p:txBody>
      </p:sp>
      <p:sp>
        <p:nvSpPr>
          <p:cNvPr id="32" name="Text 30"/>
          <p:cNvSpPr txBox="1"/>
          <p:nvPr/>
        </p:nvSpPr>
        <p:spPr>
          <a:xfrm>
            <a:off x="5038344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checkpoints, vectors — Cloud SQL on GCP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873752" y="4133088"/>
            <a:ext cx="4206240" cy="804672"/>
          </a:xfrm>
          <a:prstGeom prst="roundRect">
            <a:avLst>
              <a:gd name="adj" fmla="val 6818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038344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</a:t>
            </a:r>
            <a:endParaRPr lang="en-US" sz="850"/>
          </a:p>
        </p:txBody>
      </p:sp>
      <p:sp>
        <p:nvSpPr>
          <p:cNvPr id="35" name="Text 33"/>
          <p:cNvSpPr txBox="1"/>
          <p:nvPr/>
        </p:nvSpPr>
        <p:spPr>
          <a:xfrm>
            <a:off x="5038344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 Cloud Run</a:t>
            </a:r>
            <a:endParaRPr lang="en-US" sz="1350"/>
          </a:p>
        </p:txBody>
      </p:sp>
      <p:sp>
        <p:nvSpPr>
          <p:cNvPr id="36" name="Text 34"/>
          <p:cNvSpPr txBox="1"/>
          <p:nvPr/>
        </p:nvSpPr>
        <p:spPr>
          <a:xfrm>
            <a:off x="5038344" y="4700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— live on *.a.run.app</a:t>
            </a:r>
            <a:endParaRPr lang="en-US" sz="10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8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8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8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8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8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8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8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8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8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8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8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8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8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8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8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8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8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8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8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8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80"/>
                            </p:stCondLst>
                            <p:childTnLst>
                              <p:par>
                                <p:cTn id="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18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180"/>
                            </p:stCondLst>
                            <p:childTnLst>
                              <p:par>
                                <p:cTn id="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18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180"/>
                            </p:stCondLst>
                            <p:childTnLst>
                              <p:par>
                                <p:cTn id="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18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180"/>
                            </p:stCondLst>
                            <p:childTnLst>
                              <p:par>
                                <p:cTn id="1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2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18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180"/>
                            </p:stCondLst>
                            <p:childTnLst>
                              <p:par>
                                <p:cTn id="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18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180"/>
                            </p:stCondLst>
                            <p:childTnLst>
                              <p:par>
                                <p:cTn id="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2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 Roles, One Coherent Platform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76072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/ Requester</a:t>
            </a:r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576072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Submit request in Urdu or English — no account required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576072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Receive an AKD ticket number immediately</a:t>
            </a:r>
            <a:endParaRPr lang="en-US" sz="1150"/>
          </a:p>
        </p:txBody>
      </p:sp>
      <p:sp>
        <p:nvSpPr>
          <p:cNvPr id="10" name="Text 8"/>
          <p:cNvSpPr txBox="1"/>
          <p:nvPr/>
        </p:nvSpPr>
        <p:spPr>
          <a:xfrm>
            <a:off x="576072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later via /status with AKD number + phone to track progress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355848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20440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 Operator</a:t>
            </a:r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3520440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View live ticket queue with agent trace and resource match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3520440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Monitor pipeline — each agent lights up as it runs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3520440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Export case PDF for field teams or audit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300216" y="1261872"/>
            <a:ext cx="2788920" cy="3584448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0216" y="1261872"/>
            <a:ext cx="2788920" cy="658368"/>
          </a:xfrm>
          <a:prstGeom prst="roundRect">
            <a:avLst>
              <a:gd name="adj" fmla="val 12500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64808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6464808" y="20848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Receive escalated cases flagged by Integrity agent</a:t>
            </a:r>
            <a:endParaRPr lang="en-US" sz="1150"/>
          </a:p>
        </p:txBody>
      </p:sp>
      <p:sp>
        <p:nvSpPr>
          <p:cNvPr id="21" name="Text 19"/>
          <p:cNvSpPr txBox="1"/>
          <p:nvPr/>
        </p:nvSpPr>
        <p:spPr>
          <a:xfrm>
            <a:off x="6464808" y="295351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Approve or reject with one click — resumes the pipeline</a:t>
            </a:r>
            <a:endParaRPr lang="en-US" sz="1150"/>
          </a:p>
        </p:txBody>
      </p:sp>
      <p:sp>
        <p:nvSpPr>
          <p:cNvPr id="22" name="Text 20"/>
          <p:cNvSpPr txBox="1"/>
          <p:nvPr/>
        </p:nvSpPr>
        <p:spPr>
          <a:xfrm>
            <a:off x="6464808" y="38221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Review audit log: who approved what, and when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50"/>
                            </p:stCondLst>
                            <p:childTnLst>
                              <p:par>
                                <p:cTn id="3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3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50"/>
                            </p:stCondLst>
                            <p:childTnLst>
                              <p:par>
                                <p:cTn id="4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50"/>
                            </p:stCondLst>
                            <p:childTnLst>
                              <p:par>
                                <p:cTn id="5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5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50"/>
                            </p:stCondLst>
                            <p:childTnLst>
                              <p:par>
                                <p:cTn id="6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6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50"/>
                            </p:stCondLst>
                            <p:childTnLst>
                              <p:par>
                                <p:cTn id="7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7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50"/>
                            </p:stCondLst>
                            <p:childTnLst>
                              <p:par>
                                <p:cTn id="8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8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5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50"/>
                            </p:stCondLst>
                            <p:childTnLst>
                              <p:par>
                                <p:cTn id="9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9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50"/>
                            </p:stCondLst>
                            <p:childTnLst>
                              <p:par>
                                <p:cTn id="10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0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Scenarios, Three Minutes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463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86868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Request</a:t>
            </a:r>
            <a:endParaRPr lang="en-US" sz="1500"/>
          </a:p>
        </p:txBody>
      </p:sp>
      <p:sp>
        <p:nvSpPr>
          <p:cNvPr id="9" name="Text 7"/>
          <p:cNvSpPr txBox="1"/>
          <p:nvPr/>
        </p:nvSpPr>
        <p:spPr>
          <a:xfrm>
            <a:off x="448056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"Flood ke baad khane ki zaroorat hai, Township Lahore, family of 5."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4480560" y="18928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Triage → Food · Match: Alkhidmat Kitchen stock 120 · AKD ticket issued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11480" y="2596896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26700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868680" y="28712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500"/>
          </a:p>
        </p:txBody>
      </p:sp>
      <p:sp>
        <p:nvSpPr>
          <p:cNvPr id="15" name="Text 13"/>
          <p:cNvSpPr txBox="1"/>
          <p:nvPr/>
        </p:nvSpPr>
        <p:spPr>
          <a:xfrm>
            <a:off x="4480560" y="26883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Same phone number submits a second request within minutes.</a:t>
            </a:r>
            <a:endParaRPr lang="en-US" sz="1050"/>
          </a:p>
        </p:txBody>
      </p:sp>
      <p:sp>
        <p:nvSpPr>
          <p:cNvPr id="16" name="Text 14"/>
          <p:cNvSpPr txBox="1"/>
          <p:nvPr/>
        </p:nvSpPr>
        <p:spPr>
          <a:xfrm>
            <a:off x="4480560" y="3099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Integrity flags duplicate → HITL pending · AKD still issued for transparency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11480" y="3803904"/>
            <a:ext cx="8321040" cy="1078992"/>
          </a:xfrm>
          <a:prstGeom prst="roundRect">
            <a:avLst>
              <a:gd name="adj" fmla="val 5932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803904"/>
            <a:ext cx="347472" cy="1078992"/>
          </a:xfrm>
          <a:prstGeom prst="roundRect">
            <a:avLst>
              <a:gd name="adj" fmla="val 1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38770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868680" y="4078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Medical Escalation</a:t>
            </a:r>
            <a:endParaRPr lang="en-US" sz="1500"/>
          </a:p>
        </p:txBody>
      </p:sp>
      <p:sp>
        <p:nvSpPr>
          <p:cNvPr id="21" name="Text 19"/>
          <p:cNvSpPr txBox="1"/>
          <p:nvPr/>
        </p:nvSpPr>
        <p:spPr>
          <a:xfrm>
            <a:off x="448056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"Chest pain, need ambulance urgently, DHA Lahore."</a:t>
            </a:r>
            <a:endParaRPr lang="en-US" sz="1050"/>
          </a:p>
        </p:txBody>
      </p:sp>
      <p:sp>
        <p:nvSpPr>
          <p:cNvPr id="22" name="Text 20"/>
          <p:cNvSpPr txBox="1"/>
          <p:nvPr/>
        </p:nvSpPr>
        <p:spPr>
          <a:xfrm>
            <a:off x="4480560" y="43068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Priority = Critical · Integrity escalates → Supervisor approves → Dispatch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60"/>
                            </p:stCondLst>
                            <p:childTnLst>
                              <p:par>
                                <p:cTn id="1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6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6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60"/>
                            </p:stCondLst>
                            <p:childTnLst>
                              <p:par>
                                <p:cTn id="25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6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6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60"/>
                            </p:stCondLst>
                            <p:childTnLst>
                              <p:par>
                                <p:cTn id="4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4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6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60"/>
                            </p:stCondLst>
                            <p:childTnLst>
                              <p:par>
                                <p:cTn id="55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5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6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6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60"/>
                            </p:stCondLst>
                            <p:childTnLst>
                              <p:par>
                                <p:cTn id="7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7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6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6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60"/>
                            </p:stCondLst>
                            <p:childTnLst>
                              <p:par>
                                <p:cTn id="85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8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6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6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60"/>
                            </p:stCondLst>
                            <p:childTnLst>
                              <p:par>
                                <p:cTn id="10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0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Relief Operations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1E7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60s</a:t>
            </a:r>
            <a:endParaRPr lang="en-US" sz="3400"/>
          </a:p>
        </p:txBody>
      </p:sp>
      <p:sp>
        <p:nvSpPr>
          <p:cNvPr id="8" name="Text 6"/>
          <p:cNvSpPr txBox="1"/>
          <p:nvPr/>
        </p:nvSpPr>
        <p:spPr>
          <a:xfrm>
            <a:off x="502920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verified ticket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33472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33472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724912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/>
          </a:p>
        </p:txBody>
      </p:sp>
      <p:sp>
        <p:nvSpPr>
          <p:cNvPr id="12" name="Text 10"/>
          <p:cNvSpPr txBox="1"/>
          <p:nvPr/>
        </p:nvSpPr>
        <p:spPr>
          <a:xfrm>
            <a:off x="2724912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in pipeline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855464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55464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46904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/>
          </a:p>
        </p:txBody>
      </p:sp>
      <p:sp>
        <p:nvSpPr>
          <p:cNvPr id="16" name="Text 14"/>
          <p:cNvSpPr txBox="1"/>
          <p:nvPr/>
        </p:nvSpPr>
        <p:spPr>
          <a:xfrm>
            <a:off x="4946904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receive an AKD reference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7077456" y="1298448"/>
            <a:ext cx="202996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635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77456" y="1298448"/>
            <a:ext cx="2029968" cy="109728"/>
          </a:xfrm>
          <a:prstGeom prst="roundRect">
            <a:avLst>
              <a:gd name="adj" fmla="val 75000"/>
            </a:avLst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68896" y="150876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</a:t>
            </a:r>
            <a:endParaRPr lang="en-US" sz="3400"/>
          </a:p>
        </p:txBody>
      </p:sp>
      <p:sp>
        <p:nvSpPr>
          <p:cNvPr id="20" name="Text 18"/>
          <p:cNvSpPr txBox="1"/>
          <p:nvPr/>
        </p:nvSpPr>
        <p:spPr>
          <a:xfrm>
            <a:off x="7168896" y="213055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 critical approvals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Operations Dashboard</a:t>
            </a:r>
            <a:endParaRPr lang="en-US" sz="1700"/>
          </a:p>
        </p:txBody>
      </p:sp>
      <p:sp>
        <p:nvSpPr>
          <p:cNvPr id="22" name="Text 20"/>
          <p:cNvSpPr txBox="1"/>
          <p:nvPr/>
        </p:nvSpPr>
        <p:spPr>
          <a:xfrm>
            <a:off x="548640" y="34747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Cases processed today  ·  Average time-to-ticket  ·  Escalation rate</a:t>
            </a:r>
            <a:endParaRPr lang="en-US" sz="1250"/>
          </a:p>
        </p:txBody>
      </p:sp>
      <p:sp>
        <p:nvSpPr>
          <p:cNvPr id="23" name="Text 21"/>
          <p:cNvSpPr txBox="1"/>
          <p:nvPr/>
        </p:nvSpPr>
        <p:spPr>
          <a:xfrm>
            <a:off x="548640" y="39684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Per-case agent trace with node timings  ·  Audit log (approver + timestamp)</a:t>
            </a:r>
            <a:endParaRPr lang="en-US" sz="1250"/>
          </a:p>
        </p:txBody>
      </p:sp>
      <p:sp>
        <p:nvSpPr>
          <p:cNvPr id="24" name="Text 22"/>
          <p:cNvSpPr txBox="1"/>
          <p:nvPr/>
        </p:nvSpPr>
        <p:spPr>
          <a:xfrm>
            <a:off x="548640" y="44622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PDF case export for field teams and compliance reporting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85"/>
                            </p:stCondLst>
                            <p:childTnLst>
                              <p:par>
                                <p:cTn id="1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85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85"/>
                            </p:stCondLst>
                            <p:childTnLst>
                              <p:par>
                                <p:cTn id="2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8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85"/>
                            </p:stCondLst>
                            <p:childTnLst>
                              <p:par>
                                <p:cTn id="3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85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85"/>
                            </p:stCondLst>
                            <p:childTnLst>
                              <p:par>
                                <p:cTn id="4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85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85"/>
                            </p:stCondLst>
                            <p:childTnLst>
                              <p:par>
                                <p:cTn id="5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85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85"/>
                            </p:stCondLst>
                            <p:childTnLst>
                              <p:par>
                                <p:cTn id="6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85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85"/>
                            </p:stCondLst>
                            <p:childTnLst>
                              <p:par>
                                <p:cTn id="7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85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85"/>
                            </p:stCondLst>
                            <p:childTnLst>
                              <p:par>
                                <p:cTn id="8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85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85"/>
                            </p:stCondLst>
                            <p:childTnLst>
                              <p:par>
                                <p:cTn id="9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85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85"/>
                            </p:stCondLst>
                            <p:childTnLst>
                              <p:par>
                                <p:cTn id="10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85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85"/>
                            </p:stCondLst>
                            <p:childTnLst>
                              <p:par>
                                <p:cTn id="11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Alibaba Cloud × GCP — Production Ready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92608" cy="658368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399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850"/>
          </a:p>
        </p:txBody>
      </p:sp>
      <p:sp>
        <p:nvSpPr>
          <p:cNvPr id="8" name="Text 6"/>
          <p:cNvSpPr txBox="1"/>
          <p:nvPr/>
        </p:nvSpPr>
        <p:spPr>
          <a:xfrm>
            <a:off x="804672" y="1636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DashScope / Qwen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2907792" y="15087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+ bilingual embeddings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11480" y="2020824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020824"/>
            <a:ext cx="292608" cy="658368"/>
          </a:xfrm>
          <a:prstGeom prst="roundRect">
            <a:avLst>
              <a:gd name="adj" fmla="val 18750"/>
            </a:avLst>
          </a:prstGeom>
          <a:solidFill>
            <a:srgbClr val="FF6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20939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</a:t>
            </a:r>
            <a:endParaRPr lang="en-US" sz="850"/>
          </a:p>
        </p:txBody>
      </p:sp>
      <p:sp>
        <p:nvSpPr>
          <p:cNvPr id="13" name="Text 11"/>
          <p:cNvSpPr txBox="1"/>
          <p:nvPr/>
        </p:nvSpPr>
        <p:spPr>
          <a:xfrm>
            <a:off x="804672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Studio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2907792" y="22037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model selection &amp; API endpoint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11480" y="2715768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715768"/>
            <a:ext cx="292608" cy="65836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04672" y="2788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18" name="Text 16"/>
          <p:cNvSpPr txBox="1"/>
          <p:nvPr/>
        </p:nvSpPr>
        <p:spPr>
          <a:xfrm>
            <a:off x="804672" y="3026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Run</a:t>
            </a:r>
            <a:endParaRPr lang="en-US" sz="1300"/>
          </a:p>
        </p:txBody>
      </p:sp>
      <p:sp>
        <p:nvSpPr>
          <p:cNvPr id="19" name="Text 17"/>
          <p:cNvSpPr txBox="1"/>
          <p:nvPr/>
        </p:nvSpPr>
        <p:spPr>
          <a:xfrm>
            <a:off x="2907792" y="28986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API + Next.js frontend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11480" y="3410712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410712"/>
            <a:ext cx="292608" cy="658368"/>
          </a:xfrm>
          <a:prstGeom prst="roundRect">
            <a:avLst>
              <a:gd name="adj" fmla="val 18750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04672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804672" y="3721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SQL</a:t>
            </a:r>
            <a:endParaRPr lang="en-US" sz="1300"/>
          </a:p>
        </p:txBody>
      </p:sp>
      <p:sp>
        <p:nvSpPr>
          <p:cNvPr id="24" name="Text 22"/>
          <p:cNvSpPr txBox="1"/>
          <p:nvPr/>
        </p:nvSpPr>
        <p:spPr>
          <a:xfrm>
            <a:off x="2907792" y="35935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for cases &amp; vectors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11480" y="4105656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122040"/>
          </a:solidFill>
          <a:ln w="6350">
            <a:solidFill>
              <a:srgbClr val="1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105656"/>
            <a:ext cx="292608" cy="658368"/>
          </a:xfrm>
          <a:prstGeom prst="roundRect">
            <a:avLst>
              <a:gd name="adj" fmla="val 1875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4672" y="4178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850"/>
          </a:p>
        </p:txBody>
      </p:sp>
      <p:sp>
        <p:nvSpPr>
          <p:cNvPr id="28" name="Text 26"/>
          <p:cNvSpPr txBox="1"/>
          <p:nvPr/>
        </p:nvSpPr>
        <p:spPr>
          <a:xfrm>
            <a:off x="804672" y="4416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Manager</a:t>
            </a:r>
            <a:endParaRPr lang="en-US" sz="1300"/>
          </a:p>
        </p:txBody>
      </p:sp>
      <p:sp>
        <p:nvSpPr>
          <p:cNvPr id="29" name="Text 27"/>
          <p:cNvSpPr txBox="1"/>
          <p:nvPr/>
        </p:nvSpPr>
        <p:spPr>
          <a:xfrm>
            <a:off x="2907792" y="42885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key + JWT secret vault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8321040" cy="347472"/>
          </a:xfrm>
          <a:prstGeom prst="roundRect">
            <a:avLst>
              <a:gd name="adj" fmla="val 13158"/>
            </a:avLst>
          </a:prstGeom>
          <a:solidFill>
            <a:srgbClr val="1A3160"/>
          </a:solidFill>
          <a:ln w="762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relief-web-4idrhaffca-el.a.run.app  ·  relief-api-4idrhaffca-el.a.run.app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90"/>
                            </p:stCondLst>
                            <p:childTnLst>
                              <p:par>
                                <p:cTn id="1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9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9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90"/>
                            </p:stCondLst>
                            <p:childTnLst>
                              <p:par>
                                <p:cTn id="25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9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9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90"/>
                            </p:stCondLst>
                            <p:childTnLst>
                              <p:par>
                                <p:cTn id="4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9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9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90"/>
                            </p:stCondLst>
                            <p:childTnLst>
                              <p:par>
                                <p:cTn id="55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9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9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90"/>
                            </p:stCondLst>
                            <p:childTnLst>
                              <p:par>
                                <p:cTn id="7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9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9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90"/>
                            </p:stCondLst>
                            <p:childTnLst>
                              <p:par>
                                <p:cTn id="85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9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90"/>
                            </p:stCondLst>
                            <p:childTnLst>
                              <p:par>
                                <p:cTn id="9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90"/>
                            </p:stCondLst>
                            <p:childTnLst>
                              <p:par>
                                <p:cTn id="10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9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90"/>
                            </p:stCondLst>
                            <p:childTnLst>
                              <p:par>
                                <p:cTn id="1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90"/>
                            </p:stCondLst>
                            <p:childTnLst>
                              <p:par>
                                <p:cTn id="115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9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90"/>
                            </p:stCondLst>
                            <p:childTnLst>
                              <p:par>
                                <p:cTn id="1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90"/>
                            </p:stCondLst>
                            <p:childTnLst>
                              <p:par>
                                <p:cTn id="130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9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90"/>
                            </p:stCondLst>
                            <p:childTnLst>
                              <p:par>
                                <p:cTn id="1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90"/>
                            </p:stCondLst>
                            <p:childTnLst>
                              <p:par>
                                <p:cTn id="145" presetID="13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0" kern="0" spc="30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BEYOND THE HACKATHON</a:t>
            </a:r>
            <a:endParaRPr lang="en-US" sz="95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National Relief Infrastructure</a:t>
            </a:r>
            <a:endParaRPr lang="en-US" sz="2600"/>
          </a:p>
        </p:txBody>
      </p:sp>
      <p:sp>
        <p:nvSpPr>
          <p:cNvPr id="5" name="Shape Line"/>
          <p:cNvSpPr/>
          <p:nvPr/>
        </p:nvSpPr>
        <p:spPr>
          <a:xfrm>
            <a:off x="640080" y="1802892"/>
            <a:ext cx="7940040" cy="12700"/>
          </a:xfrm>
          <a:prstGeom prst="rect">
            <a:avLst/>
          </a:prstGeom>
          <a:solidFill>
            <a:srgbClr val="D6D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ard 0"/>
          <p:cNvSpPr/>
          <p:nvPr/>
        </p:nvSpPr>
        <p:spPr>
          <a:xfrm>
            <a:off x="4114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Badge 0"/>
          <p:cNvSpPr/>
          <p:nvPr/>
        </p:nvSpPr>
        <p:spPr>
          <a:xfrm>
            <a:off x="640080" y="1581912"/>
            <a:ext cx="441960" cy="441960"/>
          </a:xfrm>
          <a:prstGeom prst="ellipse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Num 0"/>
          <p:cNvSpPr txBox="1"/>
          <p:nvPr/>
        </p:nvSpPr>
        <p:spPr>
          <a:xfrm>
            <a:off x="6400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itle 0"/>
          <p:cNvSpPr txBox="1"/>
          <p:nvPr/>
        </p:nvSpPr>
        <p:spPr>
          <a:xfrm>
            <a:off x="6400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800"/>
          </a:p>
        </p:txBody>
      </p:sp>
      <p:sp>
        <p:nvSpPr>
          <p:cNvPr id="10" name="When 0"/>
          <p:cNvSpPr txBox="1"/>
          <p:nvPr/>
        </p:nvSpPr>
        <p:spPr>
          <a:xfrm>
            <a:off x="6400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·  0–3 months</a:t>
            </a:r>
            <a:endParaRPr lang="en-US" sz="850"/>
          </a:p>
        </p:txBody>
      </p:sp>
      <p:sp>
        <p:nvSpPr>
          <p:cNvPr id="11" name="Body 0"/>
          <p:cNvSpPr txBox="1"/>
          <p:nvPr/>
        </p:nvSpPr>
        <p:spPr>
          <a:xfrm>
            <a:off x="6400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with one Alkhidmat district office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intake on real flood &amp; medical cases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Target: 1,000 verified tickets</a:t>
            </a:r>
            <a:endParaRPr lang="en-US" sz="1000"/>
          </a:p>
        </p:txBody>
      </p:sp>
      <p:sp>
        <p:nvSpPr>
          <p:cNvPr id="12" name="Card 1"/>
          <p:cNvSpPr/>
          <p:nvPr/>
        </p:nvSpPr>
        <p:spPr>
          <a:xfrm>
            <a:off x="25450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Badge 1"/>
          <p:cNvSpPr/>
          <p:nvPr/>
        </p:nvSpPr>
        <p:spPr>
          <a:xfrm>
            <a:off x="2773680" y="1581912"/>
            <a:ext cx="441960" cy="441960"/>
          </a:xfrm>
          <a:prstGeom prst="ellipse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Num 1"/>
          <p:cNvSpPr txBox="1"/>
          <p:nvPr/>
        </p:nvSpPr>
        <p:spPr>
          <a:xfrm>
            <a:off x="27736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5" name="Title 1"/>
          <p:cNvSpPr txBox="1"/>
          <p:nvPr/>
        </p:nvSpPr>
        <p:spPr>
          <a:xfrm>
            <a:off x="27736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</a:t>
            </a:r>
            <a:endParaRPr lang="en-US" sz="1800"/>
          </a:p>
        </p:txBody>
      </p:sp>
      <p:sp>
        <p:nvSpPr>
          <p:cNvPr id="16" name="When 1"/>
          <p:cNvSpPr txBox="1"/>
          <p:nvPr/>
        </p:nvSpPr>
        <p:spPr>
          <a:xfrm>
            <a:off x="27736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 ·  3–6 months</a:t>
            </a:r>
            <a:endParaRPr lang="en-US" sz="850"/>
          </a:p>
        </p:txBody>
      </p:sp>
      <p:sp>
        <p:nvSpPr>
          <p:cNvPr id="17" name="Body 1"/>
          <p:cNvSpPr txBox="1"/>
          <p:nvPr/>
        </p:nvSpPr>
        <p:spPr>
          <a:xfrm>
            <a:off x="27736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 &amp; SMS intake channels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Offline-first field app for volunteers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SOC2-style audit logging &amp; retention</a:t>
            </a:r>
            <a:endParaRPr lang="en-US" sz="1000"/>
          </a:p>
        </p:txBody>
      </p:sp>
      <p:sp>
        <p:nvSpPr>
          <p:cNvPr id="18" name="Card 2"/>
          <p:cNvSpPr/>
          <p:nvPr/>
        </p:nvSpPr>
        <p:spPr>
          <a:xfrm>
            <a:off x="46786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Badge 2"/>
          <p:cNvSpPr/>
          <p:nvPr/>
        </p:nvSpPr>
        <p:spPr>
          <a:xfrm>
            <a:off x="4907280" y="1581912"/>
            <a:ext cx="441960" cy="441960"/>
          </a:xfrm>
          <a:prstGeom prst="ellipse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Num 2"/>
          <p:cNvSpPr txBox="1"/>
          <p:nvPr/>
        </p:nvSpPr>
        <p:spPr>
          <a:xfrm>
            <a:off x="49072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1" name="Title 2"/>
          <p:cNvSpPr txBox="1"/>
          <p:nvPr/>
        </p:nvSpPr>
        <p:spPr>
          <a:xfrm>
            <a:off x="49072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/>
          </a:p>
        </p:txBody>
      </p:sp>
      <p:sp>
        <p:nvSpPr>
          <p:cNvPr id="22" name="When 2"/>
          <p:cNvSpPr txBox="1"/>
          <p:nvPr/>
        </p:nvSpPr>
        <p:spPr>
          <a:xfrm>
            <a:off x="49072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2027  ·  6–12 months</a:t>
            </a:r>
            <a:endParaRPr lang="en-US" sz="850"/>
          </a:p>
        </p:txBody>
      </p:sp>
      <p:sp>
        <p:nvSpPr>
          <p:cNvPr id="23" name="Body 2"/>
          <p:cNvSpPr txBox="1"/>
          <p:nvPr/>
        </p:nvSpPr>
        <p:spPr>
          <a:xfrm>
            <a:off x="49072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Alkhidmat regional offices, Punjab-wide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sync with live warehouse systems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Regional dialect coverage: Sindhi, Pashto</a:t>
            </a:r>
            <a:endParaRPr lang="en-US" sz="1000"/>
          </a:p>
        </p:txBody>
      </p:sp>
      <p:sp>
        <p:nvSpPr>
          <p:cNvPr id="24" name="Card 3"/>
          <p:cNvSpPr/>
          <p:nvPr/>
        </p:nvSpPr>
        <p:spPr>
          <a:xfrm>
            <a:off x="6812280" y="1261872"/>
            <a:ext cx="1996440" cy="297180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8890">
            <a:solidFill>
              <a:srgbClr val="D6DFF0"/>
            </a:solidFill>
            <a:prstDash val="solid"/>
          </a:ln>
          <a:effectLst>
            <a:outerShdw blurRad="76200" dist="25400" dir="5400000" algn="bl" rotWithShape="0">
              <a:srgbClr val="C0CCE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Badge 3"/>
          <p:cNvSpPr/>
          <p:nvPr/>
        </p:nvSpPr>
        <p:spPr>
          <a:xfrm>
            <a:off x="7040880" y="1581912"/>
            <a:ext cx="441960" cy="441960"/>
          </a:xfrm>
          <a:prstGeom prst="ellipse">
            <a:avLst/>
          </a:prstGeom>
          <a:solidFill>
            <a:srgbClr val="0B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Num 3"/>
          <p:cNvSpPr txBox="1"/>
          <p:nvPr/>
        </p:nvSpPr>
        <p:spPr>
          <a:xfrm>
            <a:off x="7040880" y="1688592"/>
            <a:ext cx="44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i="0" kern="0" spc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7" name="Title 3"/>
          <p:cNvSpPr txBox="1"/>
          <p:nvPr/>
        </p:nvSpPr>
        <p:spPr>
          <a:xfrm>
            <a:off x="7040880" y="2145792"/>
            <a:ext cx="153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0" kern="0" spc="0">
                <a:solidFill>
                  <a:srgbClr val="0B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800"/>
          </a:p>
        </p:txBody>
      </p:sp>
      <p:sp>
        <p:nvSpPr>
          <p:cNvPr id="28" name="When 3"/>
          <p:cNvSpPr txBox="1"/>
          <p:nvPr/>
        </p:nvSpPr>
        <p:spPr>
          <a:xfrm>
            <a:off x="7040880" y="2496312"/>
            <a:ext cx="153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i="0" kern="0" spc="60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 ·  12 months +</a:t>
            </a:r>
            <a:endParaRPr lang="en-US" sz="850"/>
          </a:p>
        </p:txBody>
      </p:sp>
      <p:sp>
        <p:nvSpPr>
          <p:cNvPr id="29" name="Body 3"/>
          <p:cNvSpPr txBox="1"/>
          <p:nvPr/>
        </p:nvSpPr>
        <p:spPr>
          <a:xfrm>
            <a:off x="7040880" y="2862072"/>
            <a:ext cx="153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Multi-NGO tenancy — one desk, many partners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API for government disaster cells</a:t>
            </a:r>
            <a:endParaRPr lang="en-US" sz="1000"/>
          </a:p>
          <a:p>
            <a:pPr marL="0" indent="0" algn="l">
              <a:buNone/>
            </a:pPr>
            <a:r>
              <a:rPr lang="en-US" sz="1000" b="0" i="0" kern="0" spc="0">
                <a:solidFill>
                  <a:srgbClr val="2C3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Open-source the agent orchestration core</a:t>
            </a:r>
            <a:endParaRPr lang="en-US" sz="1000"/>
          </a:p>
        </p:txBody>
      </p:sp>
      <p:sp>
        <p:nvSpPr>
          <p:cNvPr id="30" name="Footer"/>
          <p:cNvSpPr txBox="1"/>
          <p:nvPr/>
        </p:nvSpPr>
        <p:spPr>
          <a:xfrm>
            <a:off x="548640" y="4525963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0" i="1" kern="0" spc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partner: Alkhidmat Foundation Pakistan  ·  Built to run beyond demo day</a:t>
            </a:r>
            <a:endParaRPr lang="en-US" sz="95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12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12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12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12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12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12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12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12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12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12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12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1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12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12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12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12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120"/>
                            </p:stCondLst>
                            <p:childTnLst>
                              <p:par>
                                <p:cTn id="9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12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120"/>
                            </p:stCondLst>
                            <p:childTnLst>
                              <p:par>
                                <p:cTn id="10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12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120"/>
                            </p:stCondLst>
                            <p:childTnLst>
                              <p:par>
                                <p:cTn id="1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12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120"/>
                            </p:stCondLst>
                            <p:childTnLst>
                              <p:par>
                                <p:cTn id="1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12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120"/>
                            </p:stCondLst>
                            <p:childTnLst>
                              <p:par>
                                <p:cTn id="1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12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120"/>
                            </p:stCondLst>
                            <p:childTnLst>
                              <p:par>
                                <p:cTn id="1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5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WIN.</a:t>
            </a:r>
            <a:endParaRPr lang="en-US" sz="50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SERVE.</a:t>
            </a:r>
            <a:endParaRPr lang="en-US" sz="500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E8B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 Relief Copilot — Multi-Agent Aid Desk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114800" cy="0"/>
          </a:xfrm>
          <a:prstGeom prst="line">
            <a:avLst/>
          </a:prstGeom>
          <a:noFill/>
          <a:ln w="15240">
            <a:solidFill>
              <a:srgbClr val="C5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999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2286000" y="2999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relief-web-4idrhaffca-el.a.run.app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2286000" y="3566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github.com/Atif1299/</a:t>
            </a:r>
            <a:r>
              <a:rPr lang="en-US" sz="1300" err="1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-relief-copilot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548640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C5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00"/>
          </a:p>
        </p:txBody>
      </p:sp>
      <p:sp>
        <p:nvSpPr>
          <p:cNvPr id="13" name="Text 11"/>
          <p:cNvSpPr txBox="1"/>
          <p:nvPr/>
        </p:nvSpPr>
        <p:spPr>
          <a:xfrm>
            <a:off x="2286000" y="41330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Atif - 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ranaatif1299@gmail.com</a:t>
            </a: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Ahad - </a:t>
            </a:r>
            <a:r>
              <a:rPr lang="en-US" sz="130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buttabdul.ahad029@gmail.com</a:t>
            </a: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300">
              <a:solidFill>
                <a:srgbClr val="EAF0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5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Social Impact · Alibaba Cloud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340"/>
                            </p:stCondLst>
                            <p:childTnLst>
                              <p:par>
                                <p:cTn id="1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34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34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340"/>
                            </p:stCondLst>
                            <p:childTnLst>
                              <p:par>
                                <p:cTn id="25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34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42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1096</Words>
  <Application>Microsoft Office PowerPoint</Application>
  <PresentationFormat>On-screen Show (16:9)</PresentationFormat>
  <Paragraphs>196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Atif</cp:lastModifiedBy>
  <cp:revision>3</cp:revision>
  <dcterms:created xsi:type="dcterms:W3CDTF">2026-09-03T16:10:21Z</dcterms:created>
  <dcterms:modified xsi:type="dcterms:W3CDTF">2026-09-03T20:51:43Z</dcterms:modified>
</cp:coreProperties>
</file>